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1" r:id="rId25"/>
    <p:sldId id="292" r:id="rId26"/>
    <p:sldId id="293"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9F8E406F-8F11-42E7-BB96-4FE0DF75241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91"/>
            <p14:sldId id="292"/>
            <p14:sldId id="293"/>
          </p14:sldIdLst>
        </p14:section>
        <p14:section name="Untitled Section" id="{5E6EFECA-E401-471D-93B2-0791A4894427}">
          <p14:sldIdLst>
            <p14:sldId id="279"/>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6F2D1-5AA4-4D1B-B4E9-20E3661298E5}" v="17" dt="2025-12-17T09:11:01.37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ECEDE0-95C2-4336-8F6F-BC490F9DDA10}" styleName="Table_0">
    <a:wholeTbl>
      <a:tcTxStyle>
        <a:font>
          <a:latin typeface="Times New Roman"/>
          <a:ea typeface="Times New Roman"/>
          <a:cs typeface="Times New Roman"/>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a:font>
          <a:latin typeface="Times New Roman"/>
          <a:ea typeface="Times New Roman"/>
          <a:cs typeface="Times New Roman"/>
        </a:font>
        <a:srgbClr val="FFFFFF"/>
      </a:tcTxStyle>
      <a:tcStyle>
        <a:tcBdr/>
        <a:fill>
          <a:solidFill>
            <a:srgbClr val="4F81BD"/>
          </a:solidFill>
        </a:fill>
      </a:tcStyle>
    </a:lastCol>
    <a:firstCol>
      <a:tcTxStyle b="on">
        <a:font>
          <a:latin typeface="Times New Roman"/>
          <a:ea typeface="Times New Roman"/>
          <a:cs typeface="Times New Roman"/>
        </a:font>
        <a:srgbClr val="FFFFFF"/>
      </a:tcTxStyle>
      <a:tcStyle>
        <a:tcBdr/>
        <a:fill>
          <a:solidFill>
            <a:srgbClr val="4F81BD"/>
          </a:solidFill>
        </a:fill>
      </a:tcStyle>
    </a:firstCol>
    <a:lastRow>
      <a:tcTxStyle b="on">
        <a:font>
          <a:latin typeface="Times New Roman"/>
          <a:ea typeface="Times New Roman"/>
          <a:cs typeface="Times New Roman"/>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a:font>
          <a:latin typeface="Times New Roman"/>
          <a:ea typeface="Times New Roman"/>
          <a:cs typeface="Times New Roman"/>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83" autoAdjust="0"/>
    <p:restoredTop sz="94660"/>
  </p:normalViewPr>
  <p:slideViewPr>
    <p:cSldViewPr snapToGrid="0" showGuides="1">
      <p:cViewPr>
        <p:scale>
          <a:sx n="66" d="100"/>
          <a:sy n="66" d="100"/>
        </p:scale>
        <p:origin x="912" y="31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ANNA R" userId="f99ba61acff751e5" providerId="LiveId" clId="{C5E94364-4BBD-4AB8-AC6E-ACEA668094F2}"/>
    <pc:docChg chg="undo custSel addSld delSld modSld sldOrd addSection modSection">
      <pc:chgData name="PRASANNA R" userId="f99ba61acff751e5" providerId="LiveId" clId="{C5E94364-4BBD-4AB8-AC6E-ACEA668094F2}" dt="2025-12-17T09:11:07.867" v="305" actId="1076"/>
      <pc:docMkLst>
        <pc:docMk/>
      </pc:docMkLst>
      <pc:sldChg chg="modSp mod">
        <pc:chgData name="PRASANNA R" userId="f99ba61acff751e5" providerId="LiveId" clId="{C5E94364-4BBD-4AB8-AC6E-ACEA668094F2}" dt="2025-12-11T07:49:37.515" v="189" actId="1076"/>
        <pc:sldMkLst>
          <pc:docMk/>
          <pc:sldMk cId="0" sldId="256"/>
        </pc:sldMkLst>
        <pc:spChg chg="mod">
          <ac:chgData name="PRASANNA R" userId="f99ba61acff751e5" providerId="LiveId" clId="{C5E94364-4BBD-4AB8-AC6E-ACEA668094F2}" dt="2025-12-11T07:49:28.346" v="186" actId="14100"/>
          <ac:spMkLst>
            <pc:docMk/>
            <pc:sldMk cId="0" sldId="256"/>
            <ac:spMk id="95" creationId="{00000000-0000-0000-0000-000000000000}"/>
          </ac:spMkLst>
        </pc:spChg>
        <pc:spChg chg="mod">
          <ac:chgData name="PRASANNA R" userId="f99ba61acff751e5" providerId="LiveId" clId="{C5E94364-4BBD-4AB8-AC6E-ACEA668094F2}" dt="2025-12-11T07:49:33.489" v="188" actId="27636"/>
          <ac:spMkLst>
            <pc:docMk/>
            <pc:sldMk cId="0" sldId="256"/>
            <ac:spMk id="96" creationId="{00000000-0000-0000-0000-000000000000}"/>
          </ac:spMkLst>
        </pc:spChg>
        <pc:picChg chg="mod">
          <ac:chgData name="PRASANNA R" userId="f99ba61acff751e5" providerId="LiveId" clId="{C5E94364-4BBD-4AB8-AC6E-ACEA668094F2}" dt="2025-12-11T07:49:37.515" v="189" actId="1076"/>
          <ac:picMkLst>
            <pc:docMk/>
            <pc:sldMk cId="0" sldId="256"/>
            <ac:picMk id="97" creationId="{00000000-0000-0000-0000-000000000000}"/>
          </ac:picMkLst>
        </pc:picChg>
      </pc:sldChg>
      <pc:sldChg chg="modSp mod">
        <pc:chgData name="PRASANNA R" userId="f99ba61acff751e5" providerId="LiveId" clId="{C5E94364-4BBD-4AB8-AC6E-ACEA668094F2}" dt="2025-12-17T08:51:02.822" v="202" actId="27636"/>
        <pc:sldMkLst>
          <pc:docMk/>
          <pc:sldMk cId="0" sldId="257"/>
        </pc:sldMkLst>
        <pc:spChg chg="mod">
          <ac:chgData name="PRASANNA R" userId="f99ba61acff751e5" providerId="LiveId" clId="{C5E94364-4BBD-4AB8-AC6E-ACEA668094F2}" dt="2025-12-17T08:51:02.822" v="202" actId="27636"/>
          <ac:spMkLst>
            <pc:docMk/>
            <pc:sldMk cId="0" sldId="257"/>
            <ac:spMk id="103" creationId="{00000000-0000-0000-0000-000000000000}"/>
          </ac:spMkLst>
        </pc:spChg>
      </pc:sldChg>
      <pc:sldChg chg="modSp mod">
        <pc:chgData name="PRASANNA R" userId="f99ba61acff751e5" providerId="LiveId" clId="{C5E94364-4BBD-4AB8-AC6E-ACEA668094F2}" dt="2025-12-17T08:51:02.940" v="203" actId="27636"/>
        <pc:sldMkLst>
          <pc:docMk/>
          <pc:sldMk cId="0" sldId="258"/>
        </pc:sldMkLst>
        <pc:spChg chg="mod">
          <ac:chgData name="PRASANNA R" userId="f99ba61acff751e5" providerId="LiveId" clId="{C5E94364-4BBD-4AB8-AC6E-ACEA668094F2}" dt="2025-12-17T08:51:02.940" v="203" actId="27636"/>
          <ac:spMkLst>
            <pc:docMk/>
            <pc:sldMk cId="0" sldId="258"/>
            <ac:spMk id="109" creationId="{00000000-0000-0000-0000-000000000000}"/>
          </ac:spMkLst>
        </pc:spChg>
      </pc:sldChg>
      <pc:sldChg chg="modSp mod">
        <pc:chgData name="PRASANNA R" userId="f99ba61acff751e5" providerId="LiveId" clId="{C5E94364-4BBD-4AB8-AC6E-ACEA668094F2}" dt="2025-12-11T07:49:10.022" v="169" actId="27636"/>
        <pc:sldMkLst>
          <pc:docMk/>
          <pc:sldMk cId="0" sldId="259"/>
        </pc:sldMkLst>
        <pc:spChg chg="mod">
          <ac:chgData name="PRASANNA R" userId="f99ba61acff751e5" providerId="LiveId" clId="{C5E94364-4BBD-4AB8-AC6E-ACEA668094F2}" dt="2025-12-11T07:49:10.022" v="169" actId="27636"/>
          <ac:spMkLst>
            <pc:docMk/>
            <pc:sldMk cId="0" sldId="259"/>
            <ac:spMk id="115" creationId="{00000000-0000-0000-0000-000000000000}"/>
          </ac:spMkLst>
        </pc:spChg>
      </pc:sldChg>
      <pc:sldChg chg="modSp mod">
        <pc:chgData name="PRASANNA R" userId="f99ba61acff751e5" providerId="LiveId" clId="{C5E94364-4BBD-4AB8-AC6E-ACEA668094F2}" dt="2025-12-11T07:49:10.042" v="170" actId="27636"/>
        <pc:sldMkLst>
          <pc:docMk/>
          <pc:sldMk cId="0" sldId="260"/>
        </pc:sldMkLst>
        <pc:spChg chg="mod">
          <ac:chgData name="PRASANNA R" userId="f99ba61acff751e5" providerId="LiveId" clId="{C5E94364-4BBD-4AB8-AC6E-ACEA668094F2}" dt="2025-12-11T07:49:10.042" v="170" actId="27636"/>
          <ac:spMkLst>
            <pc:docMk/>
            <pc:sldMk cId="0" sldId="260"/>
            <ac:spMk id="121" creationId="{00000000-0000-0000-0000-000000000000}"/>
          </ac:spMkLst>
        </pc:spChg>
      </pc:sldChg>
      <pc:sldChg chg="delSp modSp mod">
        <pc:chgData name="PRASANNA R" userId="f99ba61acff751e5" providerId="LiveId" clId="{C5E94364-4BBD-4AB8-AC6E-ACEA668094F2}" dt="2025-12-17T08:47:30.324" v="192" actId="1076"/>
        <pc:sldMkLst>
          <pc:docMk/>
          <pc:sldMk cId="0" sldId="270"/>
        </pc:sldMkLst>
        <pc:spChg chg="del">
          <ac:chgData name="PRASANNA R" userId="f99ba61acff751e5" providerId="LiveId" clId="{C5E94364-4BBD-4AB8-AC6E-ACEA668094F2}" dt="2025-12-17T08:47:26.875" v="191" actId="478"/>
          <ac:spMkLst>
            <pc:docMk/>
            <pc:sldMk cId="0" sldId="270"/>
            <ac:spMk id="185" creationId="{00000000-0000-0000-0000-000000000000}"/>
          </ac:spMkLst>
        </pc:spChg>
        <pc:picChg chg="mod">
          <ac:chgData name="PRASANNA R" userId="f99ba61acff751e5" providerId="LiveId" clId="{C5E94364-4BBD-4AB8-AC6E-ACEA668094F2}" dt="2025-12-17T08:47:30.324" v="192" actId="1076"/>
          <ac:picMkLst>
            <pc:docMk/>
            <pc:sldMk cId="0" sldId="270"/>
            <ac:picMk id="184" creationId="{00000000-0000-0000-0000-000000000000}"/>
          </ac:picMkLst>
        </pc:picChg>
      </pc:sldChg>
      <pc:sldChg chg="delSp modSp mod">
        <pc:chgData name="PRASANNA R" userId="f99ba61acff751e5" providerId="LiveId" clId="{C5E94364-4BBD-4AB8-AC6E-ACEA668094F2}" dt="2025-12-17T08:47:38.545" v="194" actId="1076"/>
        <pc:sldMkLst>
          <pc:docMk/>
          <pc:sldMk cId="0" sldId="271"/>
        </pc:sldMkLst>
        <pc:spChg chg="del">
          <ac:chgData name="PRASANNA R" userId="f99ba61acff751e5" providerId="LiveId" clId="{C5E94364-4BBD-4AB8-AC6E-ACEA668094F2}" dt="2025-12-17T08:47:36.040" v="193" actId="478"/>
          <ac:spMkLst>
            <pc:docMk/>
            <pc:sldMk cId="0" sldId="271"/>
            <ac:spMk id="191" creationId="{00000000-0000-0000-0000-000000000000}"/>
          </ac:spMkLst>
        </pc:spChg>
        <pc:picChg chg="mod">
          <ac:chgData name="PRASANNA R" userId="f99ba61acff751e5" providerId="LiveId" clId="{C5E94364-4BBD-4AB8-AC6E-ACEA668094F2}" dt="2025-12-17T08:47:38.545" v="194" actId="1076"/>
          <ac:picMkLst>
            <pc:docMk/>
            <pc:sldMk cId="0" sldId="271"/>
            <ac:picMk id="192" creationId="{00000000-0000-0000-0000-000000000000}"/>
          </ac:picMkLst>
        </pc:picChg>
      </pc:sldChg>
      <pc:sldChg chg="modSp mod">
        <pc:chgData name="PRASANNA R" userId="f99ba61acff751e5" providerId="LiveId" clId="{C5E94364-4BBD-4AB8-AC6E-ACEA668094F2}" dt="2025-12-11T07:49:10.080" v="171" actId="27636"/>
        <pc:sldMkLst>
          <pc:docMk/>
          <pc:sldMk cId="0" sldId="272"/>
        </pc:sldMkLst>
        <pc:spChg chg="mod">
          <ac:chgData name="PRASANNA R" userId="f99ba61acff751e5" providerId="LiveId" clId="{C5E94364-4BBD-4AB8-AC6E-ACEA668094F2}" dt="2025-12-11T07:49:10.080" v="171" actId="27636"/>
          <ac:spMkLst>
            <pc:docMk/>
            <pc:sldMk cId="0" sldId="272"/>
            <ac:spMk id="198" creationId="{00000000-0000-0000-0000-000000000000}"/>
          </ac:spMkLst>
        </pc:spChg>
      </pc:sldChg>
      <pc:sldChg chg="modSp mod">
        <pc:chgData name="PRASANNA R" userId="f99ba61acff751e5" providerId="LiveId" clId="{C5E94364-4BBD-4AB8-AC6E-ACEA668094F2}" dt="2025-12-11T07:49:10.105" v="172" actId="27636"/>
        <pc:sldMkLst>
          <pc:docMk/>
          <pc:sldMk cId="0" sldId="274"/>
        </pc:sldMkLst>
        <pc:spChg chg="mod">
          <ac:chgData name="PRASANNA R" userId="f99ba61acff751e5" providerId="LiveId" clId="{C5E94364-4BBD-4AB8-AC6E-ACEA668094F2}" dt="2025-12-11T07:49:10.105" v="172" actId="27636"/>
          <ac:spMkLst>
            <pc:docMk/>
            <pc:sldMk cId="0" sldId="274"/>
            <ac:spMk id="210" creationId="{00000000-0000-0000-0000-000000000000}"/>
          </ac:spMkLst>
        </pc:spChg>
      </pc:sldChg>
      <pc:sldChg chg="modSp mod">
        <pc:chgData name="PRASANNA R" userId="f99ba61acff751e5" providerId="LiveId" clId="{C5E94364-4BBD-4AB8-AC6E-ACEA668094F2}" dt="2025-12-11T07:49:10.127" v="173" actId="27636"/>
        <pc:sldMkLst>
          <pc:docMk/>
          <pc:sldMk cId="0" sldId="275"/>
        </pc:sldMkLst>
        <pc:spChg chg="mod">
          <ac:chgData name="PRASANNA R" userId="f99ba61acff751e5" providerId="LiveId" clId="{C5E94364-4BBD-4AB8-AC6E-ACEA668094F2}" dt="2025-12-11T07:49:10.127" v="173" actId="27636"/>
          <ac:spMkLst>
            <pc:docMk/>
            <pc:sldMk cId="0" sldId="275"/>
            <ac:spMk id="216" creationId="{00000000-0000-0000-0000-000000000000}"/>
          </ac:spMkLst>
        </pc:spChg>
      </pc:sldChg>
      <pc:sldChg chg="modSp mod">
        <pc:chgData name="PRASANNA R" userId="f99ba61acff751e5" providerId="LiveId" clId="{C5E94364-4BBD-4AB8-AC6E-ACEA668094F2}" dt="2025-12-17T08:51:57.528" v="211" actId="14100"/>
        <pc:sldMkLst>
          <pc:docMk/>
          <pc:sldMk cId="0" sldId="276"/>
        </pc:sldMkLst>
        <pc:spChg chg="mod">
          <ac:chgData name="PRASANNA R" userId="f99ba61acff751e5" providerId="LiveId" clId="{C5E94364-4BBD-4AB8-AC6E-ACEA668094F2}" dt="2025-12-17T08:51:57.528" v="211" actId="14100"/>
          <ac:spMkLst>
            <pc:docMk/>
            <pc:sldMk cId="0" sldId="276"/>
            <ac:spMk id="222" creationId="{00000000-0000-0000-0000-000000000000}"/>
          </ac:spMkLst>
        </pc:spChg>
      </pc:sldChg>
      <pc:sldChg chg="modSp mod">
        <pc:chgData name="PRASANNA R" userId="f99ba61acff751e5" providerId="LiveId" clId="{C5E94364-4BBD-4AB8-AC6E-ACEA668094F2}" dt="2025-12-17T08:53:52.274" v="221" actId="27636"/>
        <pc:sldMkLst>
          <pc:docMk/>
          <pc:sldMk cId="0" sldId="277"/>
        </pc:sldMkLst>
        <pc:spChg chg="mod">
          <ac:chgData name="PRASANNA R" userId="f99ba61acff751e5" providerId="LiveId" clId="{C5E94364-4BBD-4AB8-AC6E-ACEA668094F2}" dt="2025-12-17T08:53:52.274" v="221" actId="27636"/>
          <ac:spMkLst>
            <pc:docMk/>
            <pc:sldMk cId="0" sldId="277"/>
            <ac:spMk id="228" creationId="{00000000-0000-0000-0000-000000000000}"/>
          </ac:spMkLst>
        </pc:spChg>
      </pc:sldChg>
      <pc:sldChg chg="modSp mod">
        <pc:chgData name="PRASANNA R" userId="f99ba61acff751e5" providerId="LiveId" clId="{C5E94364-4BBD-4AB8-AC6E-ACEA668094F2}" dt="2025-12-17T08:54:13.955" v="223" actId="27636"/>
        <pc:sldMkLst>
          <pc:docMk/>
          <pc:sldMk cId="0" sldId="278"/>
        </pc:sldMkLst>
        <pc:spChg chg="mod">
          <ac:chgData name="PRASANNA R" userId="f99ba61acff751e5" providerId="LiveId" clId="{C5E94364-4BBD-4AB8-AC6E-ACEA668094F2}" dt="2025-12-17T08:54:13.955" v="223" actId="27636"/>
          <ac:spMkLst>
            <pc:docMk/>
            <pc:sldMk cId="0" sldId="278"/>
            <ac:spMk id="234" creationId="{00000000-0000-0000-0000-000000000000}"/>
          </ac:spMkLst>
        </pc:spChg>
      </pc:sldChg>
      <pc:sldChg chg="addSp delSp modSp mod">
        <pc:chgData name="PRASANNA R" userId="f99ba61acff751e5" providerId="LiveId" clId="{C5E94364-4BBD-4AB8-AC6E-ACEA668094F2}" dt="2025-12-17T09:05:02.493" v="271" actId="1076"/>
        <pc:sldMkLst>
          <pc:docMk/>
          <pc:sldMk cId="0" sldId="279"/>
        </pc:sldMkLst>
        <pc:spChg chg="mod">
          <ac:chgData name="PRASANNA R" userId="f99ba61acff751e5" providerId="LiveId" clId="{C5E94364-4BBD-4AB8-AC6E-ACEA668094F2}" dt="2025-12-17T09:04:16.311" v="261" actId="5793"/>
          <ac:spMkLst>
            <pc:docMk/>
            <pc:sldMk cId="0" sldId="279"/>
            <ac:spMk id="240" creationId="{00000000-0000-0000-0000-000000000000}"/>
          </ac:spMkLst>
        </pc:spChg>
        <pc:picChg chg="add mod">
          <ac:chgData name="PRASANNA R" userId="f99ba61acff751e5" providerId="LiveId" clId="{C5E94364-4BBD-4AB8-AC6E-ACEA668094F2}" dt="2025-12-17T09:05:02.493" v="271" actId="1076"/>
          <ac:picMkLst>
            <pc:docMk/>
            <pc:sldMk cId="0" sldId="279"/>
            <ac:picMk id="3" creationId="{6FC41CCC-FA98-7F29-040B-8E6FAFCCC277}"/>
          </ac:picMkLst>
        </pc:picChg>
        <pc:picChg chg="del">
          <ac:chgData name="PRASANNA R" userId="f99ba61acff751e5" providerId="LiveId" clId="{C5E94364-4BBD-4AB8-AC6E-ACEA668094F2}" dt="2025-12-17T09:04:00.025" v="255" actId="478"/>
          <ac:picMkLst>
            <pc:docMk/>
            <pc:sldMk cId="0" sldId="279"/>
            <ac:picMk id="241" creationId="{00000000-0000-0000-0000-000000000000}"/>
          </ac:picMkLst>
        </pc:picChg>
      </pc:sldChg>
      <pc:sldChg chg="addSp delSp modSp mod">
        <pc:chgData name="PRASANNA R" userId="f99ba61acff751e5" providerId="LiveId" clId="{C5E94364-4BBD-4AB8-AC6E-ACEA668094F2}" dt="2025-12-17T09:07:39.600" v="290" actId="1076"/>
        <pc:sldMkLst>
          <pc:docMk/>
          <pc:sldMk cId="0" sldId="280"/>
        </pc:sldMkLst>
        <pc:spChg chg="mod">
          <ac:chgData name="PRASANNA R" userId="f99ba61acff751e5" providerId="LiveId" clId="{C5E94364-4BBD-4AB8-AC6E-ACEA668094F2}" dt="2025-12-17T09:07:04.664" v="280" actId="5793"/>
          <ac:spMkLst>
            <pc:docMk/>
            <pc:sldMk cId="0" sldId="280"/>
            <ac:spMk id="247" creationId="{00000000-0000-0000-0000-000000000000}"/>
          </ac:spMkLst>
        </pc:spChg>
        <pc:spChg chg="del">
          <ac:chgData name="PRASANNA R" userId="f99ba61acff751e5" providerId="LiveId" clId="{C5E94364-4BBD-4AB8-AC6E-ACEA668094F2}" dt="2025-12-17T09:07:00.727" v="278" actId="478"/>
          <ac:spMkLst>
            <pc:docMk/>
            <pc:sldMk cId="0" sldId="280"/>
            <ac:spMk id="248" creationId="{00000000-0000-0000-0000-000000000000}"/>
          </ac:spMkLst>
        </pc:spChg>
        <pc:picChg chg="add mod">
          <ac:chgData name="PRASANNA R" userId="f99ba61acff751e5" providerId="LiveId" clId="{C5E94364-4BBD-4AB8-AC6E-ACEA668094F2}" dt="2025-12-17T09:07:39.600" v="290" actId="1076"/>
          <ac:picMkLst>
            <pc:docMk/>
            <pc:sldMk cId="0" sldId="280"/>
            <ac:picMk id="3" creationId="{4EE5C5FE-9165-3597-E22F-61B2FC710434}"/>
          </ac:picMkLst>
        </pc:picChg>
        <pc:picChg chg="del">
          <ac:chgData name="PRASANNA R" userId="f99ba61acff751e5" providerId="LiveId" clId="{C5E94364-4BBD-4AB8-AC6E-ACEA668094F2}" dt="2025-12-17T09:06:40.428" v="273" actId="478"/>
          <ac:picMkLst>
            <pc:docMk/>
            <pc:sldMk cId="0" sldId="280"/>
            <ac:picMk id="249" creationId="{00000000-0000-0000-0000-000000000000}"/>
          </ac:picMkLst>
        </pc:picChg>
      </pc:sldChg>
      <pc:sldChg chg="addSp delSp modSp mod">
        <pc:chgData name="PRASANNA R" userId="f99ba61acff751e5" providerId="LiveId" clId="{C5E94364-4BBD-4AB8-AC6E-ACEA668094F2}" dt="2025-12-17T09:11:07.867" v="305" actId="1076"/>
        <pc:sldMkLst>
          <pc:docMk/>
          <pc:sldMk cId="0" sldId="281"/>
        </pc:sldMkLst>
        <pc:spChg chg="mod">
          <ac:chgData name="PRASANNA R" userId="f99ba61acff751e5" providerId="LiveId" clId="{C5E94364-4BBD-4AB8-AC6E-ACEA668094F2}" dt="2025-12-17T09:10:04.337" v="300" actId="5793"/>
          <ac:spMkLst>
            <pc:docMk/>
            <pc:sldMk cId="0" sldId="281"/>
            <ac:spMk id="255" creationId="{00000000-0000-0000-0000-000000000000}"/>
          </ac:spMkLst>
        </pc:spChg>
        <pc:spChg chg="del mod">
          <ac:chgData name="PRASANNA R" userId="f99ba61acff751e5" providerId="LiveId" clId="{C5E94364-4BBD-4AB8-AC6E-ACEA668094F2}" dt="2025-12-17T09:10:43.280" v="302" actId="478"/>
          <ac:spMkLst>
            <pc:docMk/>
            <pc:sldMk cId="0" sldId="281"/>
            <ac:spMk id="256" creationId="{00000000-0000-0000-0000-000000000000}"/>
          </ac:spMkLst>
        </pc:spChg>
        <pc:picChg chg="add mod">
          <ac:chgData name="PRASANNA R" userId="f99ba61acff751e5" providerId="LiveId" clId="{C5E94364-4BBD-4AB8-AC6E-ACEA668094F2}" dt="2025-12-17T09:11:07.867" v="305" actId="1076"/>
          <ac:picMkLst>
            <pc:docMk/>
            <pc:sldMk cId="0" sldId="281"/>
            <ac:picMk id="3" creationId="{526D90B8-648C-EA41-CC20-6D4E7BEDDED1}"/>
          </ac:picMkLst>
        </pc:picChg>
        <pc:picChg chg="del">
          <ac:chgData name="PRASANNA R" userId="f99ba61acff751e5" providerId="LiveId" clId="{C5E94364-4BBD-4AB8-AC6E-ACEA668094F2}" dt="2025-12-17T09:09:51.681" v="294" actId="478"/>
          <ac:picMkLst>
            <pc:docMk/>
            <pc:sldMk cId="0" sldId="281"/>
            <ac:picMk id="257" creationId="{00000000-0000-0000-0000-000000000000}"/>
          </ac:picMkLst>
        </pc:picChg>
      </pc:sldChg>
      <pc:sldChg chg="modSp mod">
        <pc:chgData name="PRASANNA R" userId="f99ba61acff751e5" providerId="LiveId" clId="{C5E94364-4BBD-4AB8-AC6E-ACEA668094F2}" dt="2025-12-11T07:52:03.898" v="190"/>
        <pc:sldMkLst>
          <pc:docMk/>
          <pc:sldMk cId="0" sldId="288"/>
        </pc:sldMkLst>
        <pc:spChg chg="mod">
          <ac:chgData name="PRASANNA R" userId="f99ba61acff751e5" providerId="LiveId" clId="{C5E94364-4BBD-4AB8-AC6E-ACEA668094F2}" dt="2025-12-11T07:52:03.898" v="190"/>
          <ac:spMkLst>
            <pc:docMk/>
            <pc:sldMk cId="0" sldId="288"/>
            <ac:spMk id="304" creationId="{00000000-0000-0000-0000-000000000000}"/>
          </ac:spMkLst>
        </pc:spChg>
      </pc:sldChg>
      <pc:sldChg chg="addSp delSp modSp new del mod modClrScheme chgLayout">
        <pc:chgData name="PRASANNA R" userId="f99ba61acff751e5" providerId="LiveId" clId="{C5E94364-4BBD-4AB8-AC6E-ACEA668094F2}" dt="2025-12-17T08:55:17.193" v="228" actId="2696"/>
        <pc:sldMkLst>
          <pc:docMk/>
          <pc:sldMk cId="881466368" sldId="291"/>
        </pc:sldMkLst>
        <pc:spChg chg="add del mod">
          <ac:chgData name="PRASANNA R" userId="f99ba61acff751e5" providerId="LiveId" clId="{C5E94364-4BBD-4AB8-AC6E-ACEA668094F2}" dt="2025-12-17T08:54:28.925" v="225" actId="700"/>
          <ac:spMkLst>
            <pc:docMk/>
            <pc:sldMk cId="881466368" sldId="291"/>
            <ac:spMk id="2" creationId="{52F97DBC-B1F1-E6C2-A7C9-7AB0E882C6FF}"/>
          </ac:spMkLst>
        </pc:spChg>
        <pc:spChg chg="add del mod">
          <ac:chgData name="PRASANNA R" userId="f99ba61acff751e5" providerId="LiveId" clId="{C5E94364-4BBD-4AB8-AC6E-ACEA668094F2}" dt="2025-12-17T08:54:28.925" v="225" actId="700"/>
          <ac:spMkLst>
            <pc:docMk/>
            <pc:sldMk cId="881466368" sldId="291"/>
            <ac:spMk id="3" creationId="{11631842-D5E7-A4B3-963F-554B03270BFF}"/>
          </ac:spMkLst>
        </pc:spChg>
      </pc:sldChg>
      <pc:sldChg chg="modSp add mod">
        <pc:chgData name="PRASANNA R" userId="f99ba61acff751e5" providerId="LiveId" clId="{C5E94364-4BBD-4AB8-AC6E-ACEA668094F2}" dt="2025-12-17T08:56:21.691" v="235" actId="27636"/>
        <pc:sldMkLst>
          <pc:docMk/>
          <pc:sldMk cId="2244607067" sldId="291"/>
        </pc:sldMkLst>
        <pc:spChg chg="mod">
          <ac:chgData name="PRASANNA R" userId="f99ba61acff751e5" providerId="LiveId" clId="{C5E94364-4BBD-4AB8-AC6E-ACEA668094F2}" dt="2025-12-17T08:56:21.691" v="235" actId="27636"/>
          <ac:spMkLst>
            <pc:docMk/>
            <pc:sldMk cId="2244607067" sldId="291"/>
            <ac:spMk id="234" creationId="{9E8E0C65-3102-A0C1-DF3D-666FE0BB9944}"/>
          </ac:spMkLst>
        </pc:spChg>
      </pc:sldChg>
      <pc:sldChg chg="new del ord">
        <pc:chgData name="PRASANNA R" userId="f99ba61acff751e5" providerId="LiveId" clId="{C5E94364-4BBD-4AB8-AC6E-ACEA668094F2}" dt="2025-12-17T08:55:52.147" v="232" actId="47"/>
        <pc:sldMkLst>
          <pc:docMk/>
          <pc:sldMk cId="3912828525" sldId="291"/>
        </pc:sldMkLst>
      </pc:sldChg>
      <pc:sldChg chg="modSp add mod">
        <pc:chgData name="PRASANNA R" userId="f99ba61acff751e5" providerId="LiveId" clId="{C5E94364-4BBD-4AB8-AC6E-ACEA668094F2}" dt="2025-12-17T08:58:45.943" v="253" actId="255"/>
        <pc:sldMkLst>
          <pc:docMk/>
          <pc:sldMk cId="2285284156" sldId="292"/>
        </pc:sldMkLst>
        <pc:spChg chg="mod">
          <ac:chgData name="PRASANNA R" userId="f99ba61acff751e5" providerId="LiveId" clId="{C5E94364-4BBD-4AB8-AC6E-ACEA668094F2}" dt="2025-12-17T08:58:45.943" v="253" actId="255"/>
          <ac:spMkLst>
            <pc:docMk/>
            <pc:sldMk cId="2285284156" sldId="292"/>
            <ac:spMk id="234" creationId="{B65A95A3-3A53-7F81-27B4-F2CE543AB71F}"/>
          </ac:spMkLst>
        </pc:spChg>
      </pc:sldChg>
      <pc:sldChg chg="modSp add mod">
        <pc:chgData name="PRASANNA R" userId="f99ba61acff751e5" providerId="LiveId" clId="{C5E94364-4BBD-4AB8-AC6E-ACEA668094F2}" dt="2025-12-17T08:58:39.983" v="252" actId="255"/>
        <pc:sldMkLst>
          <pc:docMk/>
          <pc:sldMk cId="3325848725" sldId="293"/>
        </pc:sldMkLst>
        <pc:spChg chg="mod">
          <ac:chgData name="PRASANNA R" userId="f99ba61acff751e5" providerId="LiveId" clId="{C5E94364-4BBD-4AB8-AC6E-ACEA668094F2}" dt="2025-12-17T08:58:39.983" v="252" actId="255"/>
          <ac:spMkLst>
            <pc:docMk/>
            <pc:sldMk cId="3325848725" sldId="293"/>
            <ac:spMk id="234" creationId="{9BCF0667-34C5-B4BC-619D-8ED325414E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lang="en-US"/>
          </a:p>
        </p:txBody>
      </p:sp>
      <p:sp>
        <p:nvSpPr>
          <p:cNvPr id="91" name="Google Shape;91;p1:notes"/>
          <p:cNvSpPr>
            <a:spLocks noGrp="1" noRot="1" noChangeAspect="1"/>
          </p:cNvSpPr>
          <p:nvPr>
            <p:ph type="sldImg" idx="2"/>
          </p:nvPr>
        </p:nvSpPr>
        <p:spPr>
          <a:xfrm>
            <a:off x="1168400" y="708025"/>
            <a:ext cx="4535488" cy="340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1:notes"/>
          <p:cNvSpPr txBox="1">
            <a:spLocks noGrp="1"/>
          </p:cNvSpPr>
          <p:nvPr>
            <p:ph type="body" idx="1"/>
          </p:nvPr>
        </p:nvSpPr>
        <p:spPr>
          <a:xfrm>
            <a:off x="915294" y="4343703"/>
            <a:ext cx="5027414" cy="4098773"/>
          </a:xfrm>
          <a:prstGeom prst="rect">
            <a:avLst/>
          </a:prstGeom>
          <a:noFill/>
          <a:ln>
            <a:noFill/>
          </a:ln>
        </p:spPr>
        <p:txBody>
          <a:bodyPr spcFirstLastPara="1" wrap="square" lIns="89675" tIns="44825" rIns="89675" bIns="44825" anchor="t" anchorCtr="0">
            <a:noAutofit/>
          </a:bodyPr>
          <a:lstStyle/>
          <a:p>
            <a:pPr marL="0" lvl="0" indent="0" algn="l" rtl="0">
              <a:lnSpc>
                <a:spcPct val="100000"/>
              </a:lnSpc>
              <a:spcBef>
                <a:spcPts val="0"/>
              </a:spcBef>
              <a:spcAft>
                <a:spcPts val="0"/>
              </a:spcAft>
              <a:buSzPts val="14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572F1A27-58DC-9A6F-A110-9201A811ED0F}"/>
            </a:ext>
          </a:extLst>
        </p:cNvPr>
        <p:cNvGrpSpPr/>
        <p:nvPr/>
      </p:nvGrpSpPr>
      <p:grpSpPr>
        <a:xfrm>
          <a:off x="0" y="0"/>
          <a:ext cx="0" cy="0"/>
          <a:chOff x="0" y="0"/>
          <a:chExt cx="0" cy="0"/>
        </a:xfrm>
      </p:grpSpPr>
      <p:sp>
        <p:nvSpPr>
          <p:cNvPr id="230" name="Google Shape;230;p23:notes">
            <a:extLst>
              <a:ext uri="{FF2B5EF4-FFF2-40B4-BE49-F238E27FC236}">
                <a16:creationId xmlns:a16="http://schemas.microsoft.com/office/drawing/2014/main" id="{5686C0F8-9560-9980-B4E7-527AB91979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3:notes">
            <a:extLst>
              <a:ext uri="{FF2B5EF4-FFF2-40B4-BE49-F238E27FC236}">
                <a16:creationId xmlns:a16="http://schemas.microsoft.com/office/drawing/2014/main" id="{2A574C5D-37F7-9160-99A8-4644B685734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4862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56FC6CFF-37B6-22BD-20C1-A738D85798C8}"/>
            </a:ext>
          </a:extLst>
        </p:cNvPr>
        <p:cNvGrpSpPr/>
        <p:nvPr/>
      </p:nvGrpSpPr>
      <p:grpSpPr>
        <a:xfrm>
          <a:off x="0" y="0"/>
          <a:ext cx="0" cy="0"/>
          <a:chOff x="0" y="0"/>
          <a:chExt cx="0" cy="0"/>
        </a:xfrm>
      </p:grpSpPr>
      <p:sp>
        <p:nvSpPr>
          <p:cNvPr id="230" name="Google Shape;230;p23:notes">
            <a:extLst>
              <a:ext uri="{FF2B5EF4-FFF2-40B4-BE49-F238E27FC236}">
                <a16:creationId xmlns:a16="http://schemas.microsoft.com/office/drawing/2014/main" id="{17C13D37-5665-687F-A0AC-4630F7045D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3:notes">
            <a:extLst>
              <a:ext uri="{FF2B5EF4-FFF2-40B4-BE49-F238E27FC236}">
                <a16:creationId xmlns:a16="http://schemas.microsoft.com/office/drawing/2014/main" id="{6598A17A-DE30-7FA0-2AB9-25D905F56DE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8097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08E81A01-B930-1375-A692-10C736FBF887}"/>
            </a:ext>
          </a:extLst>
        </p:cNvPr>
        <p:cNvGrpSpPr/>
        <p:nvPr/>
      </p:nvGrpSpPr>
      <p:grpSpPr>
        <a:xfrm>
          <a:off x="0" y="0"/>
          <a:ext cx="0" cy="0"/>
          <a:chOff x="0" y="0"/>
          <a:chExt cx="0" cy="0"/>
        </a:xfrm>
      </p:grpSpPr>
      <p:sp>
        <p:nvSpPr>
          <p:cNvPr id="230" name="Google Shape;230;p23:notes">
            <a:extLst>
              <a:ext uri="{FF2B5EF4-FFF2-40B4-BE49-F238E27FC236}">
                <a16:creationId xmlns:a16="http://schemas.microsoft.com/office/drawing/2014/main" id="{509E5F66-2F8F-94B1-6786-2EDE61A957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3:notes">
            <a:extLst>
              <a:ext uri="{FF2B5EF4-FFF2-40B4-BE49-F238E27FC236}">
                <a16:creationId xmlns:a16="http://schemas.microsoft.com/office/drawing/2014/main" id="{7786251F-8AEE-6458-0124-E81B6B57F22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7467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5"/>
        <p:cNvGrpSpPr/>
        <p:nvPr/>
      </p:nvGrpSpPr>
      <p:grpSpPr>
        <a:xfrm>
          <a:off x="0" y="0"/>
          <a:ext cx="0" cy="0"/>
          <a:chOff x="0" y="0"/>
          <a:chExt cx="0" cy="0"/>
        </a:xfrm>
      </p:grpSpPr>
      <p:sp>
        <p:nvSpPr>
          <p:cNvPr id="16" name="Google Shape;16;p2"/>
          <p:cNvSpPr txBox="1"/>
          <p:nvPr/>
        </p:nvSpPr>
        <p:spPr>
          <a:xfrm>
            <a:off x="1371600" y="6687979"/>
            <a:ext cx="59848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000"/>
              <a:buFont typeface="Calibri" panose="020F0502020204030204"/>
              <a:buNone/>
            </a:pP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SEC-  DEPARTMENT OF CSE–  </a:t>
            </a:r>
            <a:r>
              <a:rPr lang="en-US" sz="1000">
                <a:solidFill>
                  <a:schemeClr val="dk1"/>
                </a:solidFill>
                <a:latin typeface="Calibri" panose="020F0502020204030204"/>
                <a:ea typeface="Calibri" panose="020F0502020204030204"/>
                <a:cs typeface="Calibri" panose="020F0502020204030204"/>
                <a:sym typeface="Calibri" panose="020F0502020204030204"/>
              </a:rPr>
              <a:t>4</a:t>
            </a: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- 1 –</a:t>
            </a:r>
            <a:r>
              <a:rPr lang="en-US" sz="1000">
                <a:solidFill>
                  <a:schemeClr val="dk1"/>
                </a:solidFill>
                <a:latin typeface="Calibri" panose="020F0502020204030204"/>
                <a:ea typeface="Calibri" panose="020F0502020204030204"/>
                <a:cs typeface="Calibri" panose="020F0502020204030204"/>
                <a:sym typeface="Calibri" panose="020F0502020204030204"/>
              </a:rPr>
              <a:t>PROJECTWORKPHASE1</a:t>
            </a: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 slide# -</a:t>
            </a:r>
            <a:fld id="{00000000-1234-1234-1234-123412341234}" type="slidenum">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17;p2"/>
          <p:cNvSpPr txBox="1"/>
          <p:nvPr/>
        </p:nvSpPr>
        <p:spPr>
          <a:xfrm>
            <a:off x="457200" y="274638"/>
            <a:ext cx="8229600" cy="584200"/>
          </a:xfrm>
          <a:prstGeom prst="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Calibri" panose="020F0502020204030204"/>
              <a:buNone/>
            </a:pP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18;p2"/>
          <p:cNvSpPr txBox="1"/>
          <p:nvPr/>
        </p:nvSpPr>
        <p:spPr>
          <a:xfrm>
            <a:off x="457200" y="1027113"/>
            <a:ext cx="8229600" cy="540226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chemeClr val="dk1"/>
              </a:buClr>
              <a:buSzPts val="3200"/>
              <a:buFont typeface="Arial" panose="020B0604020202020204"/>
              <a:buNone/>
            </a:pP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9" name="Google Shape;19;p2" descr="C:\Users\ELCOT\Desktop\Saveetha Logo.png"/>
          <p:cNvPicPr preferRelativeResize="0"/>
          <p:nvPr/>
        </p:nvPicPr>
        <p:blipFill rotWithShape="1">
          <a:blip r:embed="rId2"/>
          <a:srcRect r="26619" b="28149"/>
          <a:stretch>
            <a:fillRect/>
          </a:stretch>
        </p:blipFill>
        <p:spPr>
          <a:xfrm>
            <a:off x="6588225" y="2899"/>
            <a:ext cx="2570075" cy="271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panose="020F0502020204030204"/>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 name="Google Shape;35;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panose="020F050202020403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6" name="Google Shape;66;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7" name="Google Shape;6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a:spLocks noGrp="1"/>
          </p:cNvSpPr>
          <p:nvPr>
            <p:ph type="pic" idx="2"/>
          </p:nvPr>
        </p:nvSpPr>
        <p:spPr>
          <a:xfrm>
            <a:off x="1792288" y="612775"/>
            <a:ext cx="5486400" cy="4114800"/>
          </a:xfrm>
          <a:prstGeom prst="rect">
            <a:avLst/>
          </a:prstGeom>
          <a:noFill/>
          <a:ln>
            <a:noFill/>
          </a:ln>
        </p:spPr>
      </p:sp>
      <p:sp>
        <p:nvSpPr>
          <p:cNvPr id="73" name="Google Shape;73;p1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4" name="Google Shape;7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6" name="Google Shape;86;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en.wikipedia.org/wiki/Object-modeling_technique"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p:nvPr/>
        </p:nvSpPr>
        <p:spPr>
          <a:xfrm>
            <a:off x="457200" y="274638"/>
            <a:ext cx="8229600" cy="639762"/>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ctr" rtl="0">
              <a:lnSpc>
                <a:spcPct val="100000"/>
              </a:lnSpc>
              <a:spcBef>
                <a:spcPts val="0"/>
              </a:spcBef>
              <a:spcAft>
                <a:spcPts val="0"/>
              </a:spcAft>
              <a:buClr>
                <a:srgbClr val="000000"/>
              </a:buClr>
              <a:buSzPct val="100000"/>
              <a:buFont typeface="Arial" panose="020B0604020202020204"/>
              <a:buNone/>
            </a:pPr>
            <a:r>
              <a:rPr lang="en-US" sz="4400">
                <a:solidFill>
                  <a:schemeClr val="dk1"/>
                </a:solidFill>
                <a:latin typeface="Calibri" panose="020F0502020204030204"/>
                <a:ea typeface="Calibri" panose="020F0502020204030204"/>
                <a:cs typeface="Calibri" panose="020F0502020204030204"/>
                <a:sym typeface="Calibri" panose="020F0502020204030204"/>
              </a:rPr>
              <a:t>ProjectworkPhase1</a:t>
            </a:r>
            <a:r>
              <a:rPr lang="en-US" sz="4400" b="0" i="0" u="none" strike="noStrike" cap="none">
                <a:solidFill>
                  <a:schemeClr val="dk1"/>
                </a:solidFill>
                <a:latin typeface="Calibri" panose="020F0502020204030204"/>
                <a:ea typeface="Calibri" panose="020F0502020204030204"/>
                <a:cs typeface="Calibri" panose="020F0502020204030204"/>
                <a:sym typeface="Calibri" panose="020F0502020204030204"/>
              </a:rPr>
              <a:t>(19AI70</a:t>
            </a:r>
            <a:r>
              <a:rPr lang="en-US" sz="4400">
                <a:solidFill>
                  <a:schemeClr val="dk1"/>
                </a:solidFill>
                <a:latin typeface="Calibri" panose="020F0502020204030204"/>
                <a:ea typeface="Calibri" panose="020F0502020204030204"/>
                <a:cs typeface="Calibri" panose="020F0502020204030204"/>
                <a:sym typeface="Calibri" panose="020F0502020204030204"/>
              </a:rPr>
              <a:t>2</a:t>
            </a:r>
            <a:r>
              <a:rPr lang="en-US" sz="4400" b="0" i="0" u="none" strike="noStrike" cap="none">
                <a:solidFill>
                  <a:schemeClr val="dk1"/>
                </a:solidFill>
                <a:latin typeface="Calibri" panose="020F0502020204030204"/>
                <a:ea typeface="Calibri" panose="020F0502020204030204"/>
                <a:cs typeface="Calibri" panose="020F0502020204030204"/>
                <a:sym typeface="Calibri" panose="020F0502020204030204"/>
              </a:rPr>
              <a:t>) – Review2</a:t>
            </a:r>
            <a:endParaRPr sz="4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5" name="Google Shape;95;p14"/>
          <p:cNvSpPr txBox="1"/>
          <p:nvPr/>
        </p:nvSpPr>
        <p:spPr>
          <a:xfrm>
            <a:off x="228600" y="990600"/>
            <a:ext cx="8610600" cy="478155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000000"/>
              </a:buClr>
              <a:buSzPct val="100000"/>
              <a:buFont typeface="Arial" panose="020B0604020202020204"/>
              <a:buNone/>
            </a:pPr>
            <a:r>
              <a:rPr lang="en-US" sz="2800" b="1" i="0" u="sng" strike="noStrike" cap="none" dirty="0">
                <a:solidFill>
                  <a:schemeClr val="dk1"/>
                </a:solidFill>
                <a:latin typeface="Calibri" panose="020F0502020204030204"/>
                <a:ea typeface="Calibri" panose="020F0502020204030204"/>
                <a:cs typeface="Calibri" panose="020F0502020204030204"/>
                <a:sym typeface="Calibri" panose="020F0502020204030204"/>
              </a:rPr>
              <a:t>Agriculture Chatbot</a:t>
            </a:r>
            <a:endParaRP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Submitted by:</a:t>
            </a: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GB"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Prasanna R (212222040120)</a:t>
            </a:r>
          </a:p>
          <a:p>
            <a:pPr marL="0" marR="0" lvl="0" indent="0" algn="ctr" rtl="0">
              <a:lnSpc>
                <a:spcPct val="100000"/>
              </a:lnSpc>
              <a:spcBef>
                <a:spcPts val="0"/>
              </a:spcBef>
              <a:spcAft>
                <a:spcPts val="0"/>
              </a:spcAft>
              <a:buClr>
                <a:srgbClr val="000000"/>
              </a:buClr>
              <a:buSzPct val="100000"/>
              <a:buFont typeface="Arial" panose="020B0604020202020204"/>
              <a:buNone/>
            </a:pPr>
            <a:r>
              <a:rPr lang="en-GB"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Padmashree R (212222040110)</a:t>
            </a: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2022-2026 Batch</a:t>
            </a: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TEAM NO: 230</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Under the guidance of:</a:t>
            </a: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GB"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Dr. V. Umarani</a:t>
            </a:r>
          </a:p>
          <a:p>
            <a:pPr lvl="0" algn="ctr">
              <a:buSzPct val="100000"/>
            </a:pPr>
            <a:r>
              <a:rPr lang="en-US" sz="2800" dirty="0">
                <a:solidFill>
                  <a:schemeClr val="dk1"/>
                </a:solidFill>
                <a:latin typeface="Calibri" panose="020F0502020204030204"/>
                <a:ea typeface="Calibri" panose="020F0502020204030204"/>
                <a:cs typeface="Calibri" panose="020F0502020204030204"/>
                <a:sym typeface="Calibri" panose="020F0502020204030204"/>
              </a:rPr>
              <a:t>Associate Professor </a:t>
            </a:r>
            <a:endParaRPr lang="en-GB" sz="2800" dirty="0">
              <a:solidFill>
                <a:schemeClr val="dk1"/>
              </a:solidFill>
              <a:latin typeface="Calibri" panose="020F0502020204030204"/>
              <a:ea typeface="Calibri" panose="020F0502020204030204"/>
              <a:cs typeface="Calibri" panose="020F0502020204030204"/>
              <a:sym typeface="Calibri" panose="020F0502020204030204"/>
            </a:endParaRPr>
          </a:p>
          <a:p>
            <a:pPr lvl="0" algn="ctr">
              <a:buSzPct val="100000"/>
            </a:pPr>
            <a:r>
              <a:rPr lang="en-GB"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Department of Computer Science and Engineering</a:t>
            </a: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6" name="Google Shape;96;p14"/>
          <p:cNvSpPr txBox="1"/>
          <p:nvPr/>
        </p:nvSpPr>
        <p:spPr>
          <a:xfrm>
            <a:off x="-304800" y="5486400"/>
            <a:ext cx="9829800" cy="1295400"/>
          </a:xfrm>
          <a:prstGeom prst="rect">
            <a:avLst/>
          </a:prstGeom>
          <a:noFill/>
          <a:ln>
            <a:noFill/>
          </a:ln>
        </p:spPr>
        <p:txBody>
          <a:bodyPr spcFirstLastPara="1" wrap="square" lIns="91425" tIns="45700" rIns="91425" bIns="45700" anchor="t" anchorCtr="0">
            <a:normAutofit fontScale="55000" lnSpcReduction="20000"/>
          </a:bodyPr>
          <a:lstStyle/>
          <a:p>
            <a:pPr marL="0" marR="0" lvl="0" indent="0" algn="l" rtl="0">
              <a:lnSpc>
                <a:spcPct val="100000"/>
              </a:lnSpc>
              <a:spcBef>
                <a:spcPts val="0"/>
              </a:spcBef>
              <a:spcAft>
                <a:spcPts val="0"/>
              </a:spcAft>
              <a:buClr>
                <a:srgbClr val="000000"/>
              </a:buClr>
              <a:buSzPct val="100000"/>
              <a:buFont typeface="Arial" panose="020B0604020202020204"/>
              <a:buNone/>
            </a:pPr>
            <a:endParaRPr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ct val="100000"/>
              <a:buFont typeface="Arial" panose="020B0604020202020204"/>
              <a:buNone/>
            </a:pPr>
            <a: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51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SAVEETHA ENGINEERING COLLEGE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(Autonomous Institution – UGC, Govt. of India)</a:t>
            </a:r>
            <a:endParaRPr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(Affiliated to Anna University, Approved by AICTE - Accredited by NBA &amp; NAAC – ‘A’ Grade - ISO 9001:2015 Certified)</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ct val="100000"/>
              <a:buFont typeface="Arial" panose="020B0604020202020204"/>
              <a:buNone/>
            </a:pPr>
            <a: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Saveetha Nagar, </a:t>
            </a:r>
            <a:r>
              <a:rPr lang="en-US" sz="24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Thandalam</a:t>
            </a:r>
            <a: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Chennai-602 105, </a:t>
            </a:r>
            <a:r>
              <a:rPr lang="en-US" sz="2400" b="0"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TamilNadu</a:t>
            </a:r>
            <a: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INDIA.</a:t>
            </a: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742950" marR="0" lvl="1" indent="-201295" algn="l" rtl="0">
              <a:lnSpc>
                <a:spcPct val="100000"/>
              </a:lnSpc>
              <a:spcBef>
                <a:spcPts val="265"/>
              </a:spcBef>
              <a:spcAft>
                <a:spcPts val="0"/>
              </a:spcAft>
              <a:buClr>
                <a:schemeClr val="dk1"/>
              </a:buClr>
              <a:buSzPct val="100000"/>
              <a:buFont typeface="Arial" panose="020B0604020202020204"/>
              <a:buNone/>
            </a:pPr>
            <a:endParaRP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7" name="Google Shape;97;p14"/>
          <p:cNvPicPr preferRelativeResize="0"/>
          <p:nvPr/>
        </p:nvPicPr>
        <p:blipFill rotWithShape="1">
          <a:blip r:embed="rId3"/>
          <a:srcRect/>
          <a:stretch>
            <a:fillRect/>
          </a:stretch>
        </p:blipFill>
        <p:spPr>
          <a:xfrm>
            <a:off x="4191000" y="5200650"/>
            <a:ext cx="685800" cy="66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Agenda</a:t>
            </a:r>
          </a:p>
        </p:txBody>
      </p:sp>
      <p:sp>
        <p:nvSpPr>
          <p:cNvPr id="103" name="Google Shape;103;p1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640"/>
              </a:spcBef>
              <a:spcAft>
                <a:spcPts val="0"/>
              </a:spcAft>
              <a:buClr>
                <a:schemeClr val="dk1"/>
              </a:buClr>
              <a:buSzPct val="100000"/>
              <a:buNone/>
            </a:pPr>
            <a:r>
              <a:rPr lang="en-US">
                <a:sym typeface="+mn-ea"/>
              </a:rPr>
              <a:t>1.</a:t>
            </a:r>
            <a:r>
              <a:rPr>
                <a:sym typeface="+mn-ea"/>
              </a:rPr>
              <a:t>Introduction</a:t>
            </a:r>
          </a:p>
          <a:p>
            <a:pPr marL="342900" lvl="0" indent="-342900" algn="l" rtl="0">
              <a:lnSpc>
                <a:spcPct val="100000"/>
              </a:lnSpc>
              <a:spcBef>
                <a:spcPts val="640"/>
              </a:spcBef>
              <a:spcAft>
                <a:spcPts val="0"/>
              </a:spcAft>
              <a:buClr>
                <a:schemeClr val="dk1"/>
              </a:buClr>
              <a:buSzPct val="100000"/>
              <a:buNone/>
            </a:pPr>
            <a:r>
              <a:rPr lang="en-US">
                <a:sym typeface="+mn-ea"/>
              </a:rPr>
              <a:t>2.</a:t>
            </a:r>
            <a:r>
              <a:rPr>
                <a:sym typeface="+mn-ea"/>
              </a:rPr>
              <a:t>Statement of the Problem</a:t>
            </a:r>
          </a:p>
          <a:p>
            <a:pPr marL="342900" lvl="0" indent="-342900" algn="l" rtl="0">
              <a:lnSpc>
                <a:spcPct val="100000"/>
              </a:lnSpc>
              <a:spcBef>
                <a:spcPts val="640"/>
              </a:spcBef>
              <a:spcAft>
                <a:spcPts val="0"/>
              </a:spcAft>
              <a:buClr>
                <a:schemeClr val="dk1"/>
              </a:buClr>
              <a:buSzPct val="100000"/>
              <a:buNone/>
            </a:pPr>
            <a:r>
              <a:rPr lang="en-US">
                <a:sym typeface="+mn-ea"/>
              </a:rPr>
              <a:t>3.</a:t>
            </a:r>
            <a:r>
              <a:rPr>
                <a:sym typeface="+mn-ea"/>
              </a:rPr>
              <a:t>Scope of the Project</a:t>
            </a:r>
          </a:p>
          <a:p>
            <a:pPr marL="342900" lvl="0" indent="-342900" algn="l" rtl="0">
              <a:lnSpc>
                <a:spcPct val="100000"/>
              </a:lnSpc>
              <a:spcBef>
                <a:spcPts val="640"/>
              </a:spcBef>
              <a:spcAft>
                <a:spcPts val="0"/>
              </a:spcAft>
              <a:buClr>
                <a:schemeClr val="dk1"/>
              </a:buClr>
              <a:buSzPct val="100000"/>
              <a:buNone/>
            </a:pPr>
            <a:r>
              <a:rPr lang="en-US">
                <a:sym typeface="+mn-ea"/>
              </a:rPr>
              <a:t>4.</a:t>
            </a:r>
            <a:r>
              <a:rPr>
                <a:sym typeface="+mn-ea"/>
              </a:rPr>
              <a:t>Methodology</a:t>
            </a:r>
          </a:p>
          <a:p>
            <a:pPr marL="342900" lvl="0" indent="-342900" algn="l" rtl="0">
              <a:lnSpc>
                <a:spcPct val="100000"/>
              </a:lnSpc>
              <a:spcBef>
                <a:spcPts val="640"/>
              </a:spcBef>
              <a:spcAft>
                <a:spcPts val="0"/>
              </a:spcAft>
              <a:buClr>
                <a:schemeClr val="dk1"/>
              </a:buClr>
              <a:buSzPct val="100000"/>
              <a:buNone/>
            </a:pPr>
            <a:r>
              <a:rPr lang="en-US">
                <a:sym typeface="+mn-ea"/>
              </a:rPr>
              <a:t>5.</a:t>
            </a:r>
            <a:r>
              <a:rPr>
                <a:sym typeface="+mn-ea"/>
              </a:rPr>
              <a:t>Architecture Diagram</a:t>
            </a:r>
          </a:p>
          <a:p>
            <a:pPr marL="342900" lvl="0" indent="-342900" algn="l" rtl="0">
              <a:lnSpc>
                <a:spcPct val="100000"/>
              </a:lnSpc>
              <a:spcBef>
                <a:spcPts val="640"/>
              </a:spcBef>
              <a:spcAft>
                <a:spcPts val="0"/>
              </a:spcAft>
              <a:buClr>
                <a:schemeClr val="dk1"/>
              </a:buClr>
              <a:buSzPct val="100000"/>
              <a:buNone/>
            </a:pPr>
            <a:r>
              <a:rPr lang="en-US">
                <a:sym typeface="+mn-ea"/>
              </a:rPr>
              <a:t>6.</a:t>
            </a:r>
            <a:r>
              <a:rPr>
                <a:sym typeface="+mn-ea"/>
              </a:rPr>
              <a:t>Design</a:t>
            </a:r>
          </a:p>
          <a:p>
            <a:pPr marL="342900" lvl="0" indent="-342900" algn="l" rtl="0">
              <a:lnSpc>
                <a:spcPct val="100000"/>
              </a:lnSpc>
              <a:spcBef>
                <a:spcPts val="640"/>
              </a:spcBef>
              <a:spcAft>
                <a:spcPts val="0"/>
              </a:spcAft>
              <a:buClr>
                <a:schemeClr val="dk1"/>
              </a:buClr>
              <a:buSzPct val="100000"/>
              <a:buNone/>
            </a:pPr>
            <a:r>
              <a:rPr lang="en-US">
                <a:sym typeface="+mn-ea"/>
              </a:rPr>
              <a:t>7.</a:t>
            </a:r>
            <a:r>
              <a:rPr>
                <a:sym typeface="+mn-ea"/>
              </a:rPr>
              <a:t>Implementation</a:t>
            </a:r>
          </a:p>
          <a:p>
            <a:pPr marL="342900" lvl="0" indent="-342900" algn="l" rtl="0">
              <a:lnSpc>
                <a:spcPct val="100000"/>
              </a:lnSpc>
              <a:spcBef>
                <a:spcPts val="640"/>
              </a:spcBef>
              <a:spcAft>
                <a:spcPts val="0"/>
              </a:spcAft>
              <a:buClr>
                <a:schemeClr val="dk1"/>
              </a:buClr>
              <a:buSzPct val="100000"/>
              <a:buNone/>
            </a:pPr>
            <a:r>
              <a:rPr lang="en-US">
                <a:sym typeface="+mn-ea"/>
              </a:rPr>
              <a:t>8.</a:t>
            </a:r>
            <a:r>
              <a:rPr>
                <a:sym typeface="+mn-ea"/>
              </a:rPr>
              <a:t>Output</a:t>
            </a:r>
          </a:p>
          <a:p>
            <a:pPr marL="342900" lvl="0" indent="-342900" algn="l" rtl="0">
              <a:lnSpc>
                <a:spcPct val="100000"/>
              </a:lnSpc>
              <a:spcBef>
                <a:spcPts val="640"/>
              </a:spcBef>
              <a:spcAft>
                <a:spcPts val="0"/>
              </a:spcAft>
              <a:buClr>
                <a:schemeClr val="dk1"/>
              </a:buClr>
              <a:buSzPct val="100000"/>
              <a:buNone/>
            </a:pPr>
            <a:r>
              <a:rPr lang="en-US">
                <a:sym typeface="+mn-ea"/>
              </a:rPr>
              <a:t>9.</a:t>
            </a:r>
            <a:r>
              <a:rPr>
                <a:sym typeface="+mn-ea"/>
              </a:rPr>
              <a:t>Test Cases</a:t>
            </a:r>
          </a:p>
          <a:p>
            <a:pPr marL="342900" lvl="0" indent="-342900" algn="l" rtl="0">
              <a:lnSpc>
                <a:spcPct val="100000"/>
              </a:lnSpc>
              <a:spcBef>
                <a:spcPts val="640"/>
              </a:spcBef>
              <a:spcAft>
                <a:spcPts val="0"/>
              </a:spcAft>
              <a:buClr>
                <a:schemeClr val="dk1"/>
              </a:buClr>
              <a:buSzPct val="100000"/>
              <a:buNone/>
            </a:pPr>
            <a:r>
              <a:rPr lang="en-US">
                <a:sym typeface="+mn-ea"/>
              </a:rPr>
              <a:t>10.</a:t>
            </a:r>
            <a:r>
              <a:rPr>
                <a:sym typeface="+mn-ea"/>
              </a:rPr>
              <a:t>Conclusion</a:t>
            </a:r>
          </a:p>
          <a:p>
            <a:pPr marL="342900" lvl="0" indent="-342900" algn="l" rtl="0">
              <a:lnSpc>
                <a:spcPct val="100000"/>
              </a:lnSpc>
              <a:spcBef>
                <a:spcPts val="640"/>
              </a:spcBef>
              <a:spcAft>
                <a:spcPts val="0"/>
              </a:spcAft>
              <a:buClr>
                <a:schemeClr val="dk1"/>
              </a:buClr>
              <a:buSzPct val="100000"/>
              <a:buNone/>
            </a:pPr>
            <a:r>
              <a:rPr lang="en-US">
                <a:sym typeface="+mn-ea"/>
              </a:rPr>
              <a:t>11.</a:t>
            </a:r>
            <a:r>
              <a:rPr>
                <a:sym typeface="+mn-ea"/>
              </a:rPr>
              <a:t>Future Work</a:t>
            </a:r>
          </a:p>
          <a:p>
            <a:pPr marL="342900" lvl="0" indent="-342900" algn="l" rtl="0">
              <a:lnSpc>
                <a:spcPct val="100000"/>
              </a:lnSpc>
              <a:spcBef>
                <a:spcPts val="640"/>
              </a:spcBef>
              <a:spcAft>
                <a:spcPts val="0"/>
              </a:spcAft>
              <a:buClr>
                <a:schemeClr val="dk1"/>
              </a:buClr>
              <a:buSzPct val="100000"/>
              <a:buNone/>
            </a:pPr>
            <a:endParaRPr>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Introduction</a:t>
            </a:r>
          </a:p>
        </p:txBody>
      </p:sp>
      <p:sp>
        <p:nvSpPr>
          <p:cNvPr id="109" name="Google Shape;109;p1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20000"/>
          </a:bodyPr>
          <a:lstStyle/>
          <a:p>
            <a:pPr marL="342900" lvl="0" indent="-327660" algn="l" rtl="0">
              <a:lnSpc>
                <a:spcPct val="100000"/>
              </a:lnSpc>
              <a:spcBef>
                <a:spcPts val="520"/>
              </a:spcBef>
              <a:spcAft>
                <a:spcPts val="0"/>
              </a:spcAft>
              <a:buSzPct val="114000"/>
              <a:buChar char="•"/>
            </a:pPr>
            <a:r>
              <a:rPr lang="en-US" altLang="en-US"/>
              <a:t>What is an Agriculture Chatbot?</a:t>
            </a:r>
          </a:p>
          <a:p>
            <a:pPr marL="342900" lvl="0" indent="-327660" algn="l" rtl="0">
              <a:lnSpc>
                <a:spcPct val="100000"/>
              </a:lnSpc>
              <a:spcBef>
                <a:spcPts val="520"/>
              </a:spcBef>
              <a:spcAft>
                <a:spcPts val="0"/>
              </a:spcAft>
              <a:buSzPct val="114000"/>
              <a:buChar char="•"/>
            </a:pPr>
            <a:r>
              <a:rPr lang="en-US" altLang="en-US"/>
              <a:t>An AI-powered conversational agent designed to provide farmers with instant, interactive, and personalized agricultural advice.</a:t>
            </a:r>
          </a:p>
          <a:p>
            <a:pPr marL="342900" lvl="0" indent="-327660" algn="l" rtl="0">
              <a:lnSpc>
                <a:spcPct val="100000"/>
              </a:lnSpc>
              <a:spcBef>
                <a:spcPts val="520"/>
              </a:spcBef>
              <a:spcAft>
                <a:spcPts val="0"/>
              </a:spcAft>
              <a:buSzPct val="114000"/>
              <a:buChar char="•"/>
            </a:pPr>
            <a:endParaRPr lang="en-US" altLang="en-US"/>
          </a:p>
          <a:p>
            <a:pPr marL="342900" lvl="0" indent="-327660" algn="l" rtl="0">
              <a:lnSpc>
                <a:spcPct val="100000"/>
              </a:lnSpc>
              <a:spcBef>
                <a:spcPts val="520"/>
              </a:spcBef>
              <a:spcAft>
                <a:spcPts val="0"/>
              </a:spcAft>
              <a:buSzPct val="114000"/>
              <a:buChar char="•"/>
            </a:pPr>
            <a:r>
              <a:rPr lang="en-US" altLang="en-US"/>
              <a:t>It uses Natural Language Processing (NLP) to understand farmer queries in text or voice (multi-lingual support is a key feature).</a:t>
            </a:r>
          </a:p>
          <a:p>
            <a:pPr marL="342900" lvl="0" indent="-327660" algn="l" rtl="0">
              <a:lnSpc>
                <a:spcPct val="100000"/>
              </a:lnSpc>
              <a:spcBef>
                <a:spcPts val="520"/>
              </a:spcBef>
              <a:spcAft>
                <a:spcPts val="0"/>
              </a:spcAft>
              <a:buSzPct val="114000"/>
              <a:buChar char="•"/>
            </a:pPr>
            <a:endParaRPr lang="en-US" altLang="en-US"/>
          </a:p>
          <a:p>
            <a:pPr marL="342900" lvl="0" indent="-327660" algn="l" rtl="0">
              <a:lnSpc>
                <a:spcPct val="100000"/>
              </a:lnSpc>
              <a:spcBef>
                <a:spcPts val="520"/>
              </a:spcBef>
              <a:spcAft>
                <a:spcPts val="0"/>
              </a:spcAft>
              <a:buSzPct val="114000"/>
              <a:buChar char="•"/>
            </a:pPr>
            <a:r>
              <a:rPr lang="en-US" altLang="en-US"/>
              <a:t>The bot acts as a first-level advisory service, offering suggestions for crop selection, pest and disease identification, and best practices.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Statement of the Problem</a:t>
            </a:r>
          </a:p>
        </p:txBody>
      </p:sp>
      <p:sp>
        <p:nvSpPr>
          <p:cNvPr id="115" name="Google Shape;115;p17"/>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0000" lnSpcReduction="10000"/>
          </a:bodyPr>
          <a:lstStyle/>
          <a:p>
            <a:pPr marL="342900" lvl="0" indent="-342900" algn="l" rtl="0">
              <a:lnSpc>
                <a:spcPct val="100000"/>
              </a:lnSpc>
              <a:spcBef>
                <a:spcPts val="520"/>
              </a:spcBef>
              <a:spcAft>
                <a:spcPts val="0"/>
              </a:spcAft>
              <a:buSzPts val="3200"/>
              <a:buChar char="•"/>
            </a:pPr>
            <a:r>
              <a:rPr lang="en-US" altLang="en-US"/>
              <a:t>Information Gap and Timeliness</a:t>
            </a:r>
          </a:p>
          <a:p>
            <a:pPr marL="342900" lvl="0" indent="-342900" algn="l" rtl="0">
              <a:lnSpc>
                <a:spcPct val="100000"/>
              </a:lnSpc>
              <a:spcBef>
                <a:spcPts val="520"/>
              </a:spcBef>
              <a:spcAft>
                <a:spcPts val="0"/>
              </a:spcAft>
              <a:buSzPts val="3200"/>
              <a:buChar char="•"/>
            </a:pPr>
            <a:r>
              <a:rPr lang="en-US" altLang="en-US"/>
              <a:t>Delayed Diagnosis: Farmers often have to wait for agricultural extension officers, delaying the diagnosis and treatment of crop diseases or pest infestations.</a:t>
            </a:r>
          </a:p>
          <a:p>
            <a:pPr marL="342900" lvl="0" indent="-342900" algn="l" rtl="0">
              <a:lnSpc>
                <a:spcPct val="100000"/>
              </a:lnSpc>
              <a:spcBef>
                <a:spcPts val="520"/>
              </a:spcBef>
              <a:spcAft>
                <a:spcPts val="0"/>
              </a:spcAft>
              <a:buSzPts val="3200"/>
              <a:buChar char="•"/>
            </a:pPr>
            <a:r>
              <a:rPr lang="en-US" altLang="en-US"/>
              <a:t>Expert Scarcity: Access to agricultural experts is limited, especially for small-scale farmers in developing regions.</a:t>
            </a:r>
          </a:p>
          <a:p>
            <a:pPr marL="342900" lvl="0" indent="-342900" algn="l" rtl="0">
              <a:lnSpc>
                <a:spcPct val="100000"/>
              </a:lnSpc>
              <a:spcBef>
                <a:spcPts val="520"/>
              </a:spcBef>
              <a:spcAft>
                <a:spcPts val="0"/>
              </a:spcAft>
              <a:buSzPts val="3200"/>
              <a:buChar char="•"/>
            </a:pPr>
            <a:r>
              <a:rPr lang="en-US" altLang="en-US"/>
              <a:t>Language Barrier: Information is often available only in major languages, excluding many regional farmers.</a:t>
            </a:r>
          </a:p>
          <a:p>
            <a:pPr marL="342900" lvl="0" indent="-342900" algn="l" rtl="0">
              <a:lnSpc>
                <a:spcPct val="100000"/>
              </a:lnSpc>
              <a:spcBef>
                <a:spcPts val="520"/>
              </a:spcBef>
              <a:spcAft>
                <a:spcPts val="0"/>
              </a:spcAft>
              <a:buSzPts val="3200"/>
              <a:buChar char="•"/>
            </a:pPr>
            <a:r>
              <a:rPr lang="en-US" altLang="en-US"/>
              <a:t>Inconsistent Data: Advice found online can be generic, non-contextual, and unreliable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Scope of the project</a:t>
            </a:r>
          </a:p>
        </p:txBody>
      </p:sp>
      <p:sp>
        <p:nvSpPr>
          <p:cNvPr id="121" name="Google Shape;121;p1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7500" lnSpcReduction="10000"/>
          </a:bodyPr>
          <a:lstStyle/>
          <a:p>
            <a:pPr marL="342900" lvl="0" indent="-327660" algn="l" rtl="0">
              <a:lnSpc>
                <a:spcPct val="100000"/>
              </a:lnSpc>
              <a:spcBef>
                <a:spcPts val="520"/>
              </a:spcBef>
              <a:spcAft>
                <a:spcPts val="0"/>
              </a:spcAft>
              <a:buSzPct val="114000"/>
              <a:buChar char="•"/>
            </a:pPr>
            <a:r>
              <a:rPr lang="en-US" altLang="en-US"/>
              <a:t>Data Collection: Gathering a knowledge base of crop data, pest symptoms, fertilizer requirements, and climate information.</a:t>
            </a:r>
          </a:p>
          <a:p>
            <a:pPr marL="342900" lvl="0" indent="-327660" algn="l" rtl="0">
              <a:lnSpc>
                <a:spcPct val="100000"/>
              </a:lnSpc>
              <a:spcBef>
                <a:spcPts val="520"/>
              </a:spcBef>
              <a:spcAft>
                <a:spcPts val="0"/>
              </a:spcAft>
              <a:buSzPct val="114000"/>
              <a:buChar char="•"/>
            </a:pPr>
            <a:r>
              <a:rPr lang="en-US" altLang="en-US"/>
              <a:t>Model Development: Building a Sequence-to-Sequence (Seq2Seq) or transformer-based NLP model for question-answering.</a:t>
            </a:r>
          </a:p>
          <a:p>
            <a:pPr marL="342900" lvl="0" indent="-327660" algn="l" rtl="0">
              <a:lnSpc>
                <a:spcPct val="100000"/>
              </a:lnSpc>
              <a:spcBef>
                <a:spcPts val="520"/>
              </a:spcBef>
              <a:spcAft>
                <a:spcPts val="0"/>
              </a:spcAft>
              <a:buSzPct val="114000"/>
              <a:buChar char="•"/>
            </a:pPr>
            <a:r>
              <a:rPr lang="en-US" altLang="en-US"/>
              <a:t>Contextual Understanding: Integrating location and crop type to provide personalized advice.</a:t>
            </a:r>
          </a:p>
          <a:p>
            <a:pPr marL="342900" lvl="0" indent="-327660" algn="l" rtl="0">
              <a:lnSpc>
                <a:spcPct val="100000"/>
              </a:lnSpc>
              <a:spcBef>
                <a:spcPts val="520"/>
              </a:spcBef>
              <a:spcAft>
                <a:spcPts val="0"/>
              </a:spcAft>
              <a:buSzPct val="114000"/>
              <a:buChar char="•"/>
            </a:pPr>
            <a:r>
              <a:rPr lang="en-US" altLang="en-US"/>
              <a:t>User Interface: Developing a user-friendly web/mobile interface using the MERN stack for deploying the chatbot.</a:t>
            </a:r>
          </a:p>
          <a:p>
            <a:pPr marL="15240" lvl="0" indent="0" algn="l" rtl="0">
              <a:lnSpc>
                <a:spcPct val="100000"/>
              </a:lnSpc>
              <a:spcBef>
                <a:spcPts val="520"/>
              </a:spcBef>
              <a:spcAft>
                <a:spcPts val="0"/>
              </a:spcAft>
              <a:buSzPct val="114000"/>
              <a:buNone/>
            </a:pP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Scope of the project</a:t>
            </a:r>
          </a:p>
        </p:txBody>
      </p:sp>
      <p:sp>
        <p:nvSpPr>
          <p:cNvPr id="127" name="Google Shape;127;p19"/>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520"/>
              </a:spcBef>
              <a:spcAft>
                <a:spcPts val="0"/>
              </a:spcAft>
              <a:buSzPts val="3200"/>
              <a:buChar char="•"/>
            </a:pPr>
            <a:r>
              <a:rPr lang="en-US" sz="2800"/>
              <a:t>Pneumonia Prediction</a:t>
            </a:r>
          </a:p>
          <a:p>
            <a:pPr marL="742950" lvl="1" indent="-285750" algn="l" rtl="0">
              <a:lnSpc>
                <a:spcPct val="100000"/>
              </a:lnSpc>
              <a:spcBef>
                <a:spcPts val="520"/>
              </a:spcBef>
              <a:spcAft>
                <a:spcPts val="0"/>
              </a:spcAft>
              <a:buSzPts val="2800"/>
              <a:buChar char="–"/>
            </a:pPr>
            <a:r>
              <a:rPr lang="en-US" b="1"/>
              <a:t>Inclusions</a:t>
            </a:r>
            <a:r>
              <a:rPr lang="en-US"/>
              <a:t>:</a:t>
            </a:r>
          </a:p>
          <a:p>
            <a:pPr marL="742950" lvl="1" indent="-285750" algn="l" rtl="0">
              <a:lnSpc>
                <a:spcPct val="100000"/>
              </a:lnSpc>
              <a:spcBef>
                <a:spcPts val="520"/>
              </a:spcBef>
              <a:spcAft>
                <a:spcPts val="0"/>
              </a:spcAft>
              <a:buSzPts val="2800"/>
              <a:buChar char="–"/>
            </a:pPr>
            <a:r>
              <a:rPr lang="en-US" altLang="en-US"/>
              <a:t>Data Collection</a:t>
            </a:r>
          </a:p>
          <a:p>
            <a:pPr marL="742950" lvl="1" indent="-285750" algn="l" rtl="0">
              <a:lnSpc>
                <a:spcPct val="100000"/>
              </a:lnSpc>
              <a:spcBef>
                <a:spcPts val="520"/>
              </a:spcBef>
              <a:spcAft>
                <a:spcPts val="0"/>
              </a:spcAft>
              <a:buSzPts val="2800"/>
              <a:buChar char="–"/>
            </a:pPr>
            <a:r>
              <a:rPr lang="en-US" altLang="en-US"/>
              <a:t>Model Development</a:t>
            </a:r>
          </a:p>
          <a:p>
            <a:pPr marL="742950" lvl="1" indent="-285750" algn="l" rtl="0">
              <a:lnSpc>
                <a:spcPct val="100000"/>
              </a:lnSpc>
              <a:spcBef>
                <a:spcPts val="520"/>
              </a:spcBef>
              <a:spcAft>
                <a:spcPts val="0"/>
              </a:spcAft>
              <a:buSzPts val="2800"/>
              <a:buChar char="–"/>
            </a:pPr>
            <a:r>
              <a:rPr lang="en-US" altLang="en-US"/>
              <a:t>Contextual Understanding</a:t>
            </a:r>
          </a:p>
          <a:p>
            <a:pPr marL="742950" lvl="1" indent="-285750" algn="l" rtl="0">
              <a:lnSpc>
                <a:spcPct val="100000"/>
              </a:lnSpc>
              <a:spcBef>
                <a:spcPts val="520"/>
              </a:spcBef>
              <a:spcAft>
                <a:spcPts val="0"/>
              </a:spcAft>
              <a:buSzPts val="2800"/>
              <a:buChar char="–"/>
            </a:pPr>
            <a:r>
              <a:rPr lang="en-US" altLang="en-US"/>
              <a:t>User Interface:</a:t>
            </a:r>
          </a:p>
          <a:p>
            <a:pPr marL="742950" lvl="1" indent="-285750" algn="l" rtl="0">
              <a:lnSpc>
                <a:spcPct val="100000"/>
              </a:lnSpc>
              <a:spcBef>
                <a:spcPts val="520"/>
              </a:spcBef>
              <a:spcAft>
                <a:spcPts val="0"/>
              </a:spcAft>
              <a:buSzPts val="2800"/>
              <a:buChar char="–"/>
            </a:pPr>
            <a:r>
              <a:rPr lang="en-US" b="1"/>
              <a:t>Exclusions</a:t>
            </a:r>
            <a:r>
              <a:rPr lang="en-US"/>
              <a:t>:</a:t>
            </a:r>
          </a:p>
          <a:p>
            <a:pPr marL="742950" lvl="1" indent="-285750" algn="l" rtl="0">
              <a:lnSpc>
                <a:spcPct val="100000"/>
              </a:lnSpc>
              <a:spcBef>
                <a:spcPts val="520"/>
              </a:spcBef>
              <a:spcAft>
                <a:spcPts val="0"/>
              </a:spcAft>
              <a:buSzPts val="2800"/>
              <a:buChar char="–"/>
            </a:pPr>
            <a:r>
              <a:rPr lang="en-US" altLang="en-US"/>
              <a:t>The project will not include direct control over farming equipment or machinery.</a:t>
            </a:r>
          </a:p>
          <a:p>
            <a:pPr marL="742950" lvl="1" indent="-285750" algn="l" rtl="0">
              <a:lnSpc>
                <a:spcPct val="100000"/>
              </a:lnSpc>
              <a:spcBef>
                <a:spcPts val="520"/>
              </a:spcBef>
              <a:spcAft>
                <a:spcPts val="0"/>
              </a:spcAft>
              <a:buSzPts val="2800"/>
              <a:buChar char="–"/>
            </a:pPr>
            <a:r>
              <a:rPr lang="en-US" altLang="en-US"/>
              <a:t>The current version may not cover all minor, highly specialized crops.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Scope of the project</a:t>
            </a:r>
          </a:p>
        </p:txBody>
      </p:sp>
      <p:sp>
        <p:nvSpPr>
          <p:cNvPr id="133" name="Google Shape;133;p2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2420" algn="l" rtl="0">
              <a:lnSpc>
                <a:spcPct val="100000"/>
              </a:lnSpc>
              <a:spcBef>
                <a:spcPts val="520"/>
              </a:spcBef>
              <a:spcAft>
                <a:spcPts val="0"/>
              </a:spcAft>
              <a:buSzPct val="114000"/>
              <a:buChar char="•"/>
            </a:pPr>
            <a:r>
              <a:rPr lang="en-US" sz="2800"/>
              <a:t>Pneumonia Prediction</a:t>
            </a:r>
          </a:p>
          <a:p>
            <a:pPr marL="742950" lvl="1" indent="-259080" algn="l" rtl="0">
              <a:lnSpc>
                <a:spcPct val="100000"/>
              </a:lnSpc>
              <a:spcBef>
                <a:spcPts val="520"/>
              </a:spcBef>
              <a:spcAft>
                <a:spcPts val="0"/>
              </a:spcAft>
              <a:buSzPct val="100000"/>
              <a:buChar char="–"/>
            </a:pPr>
            <a:r>
              <a:rPr lang="en-US" b="1"/>
              <a:t>Data</a:t>
            </a:r>
            <a:r>
              <a:rPr lang="en-US"/>
              <a:t>:</a:t>
            </a:r>
          </a:p>
          <a:p>
            <a:pPr marL="742950" lvl="1" indent="-259080" algn="l" rtl="0">
              <a:lnSpc>
                <a:spcPct val="100000"/>
              </a:lnSpc>
              <a:spcBef>
                <a:spcPts val="520"/>
              </a:spcBef>
              <a:spcAft>
                <a:spcPts val="0"/>
              </a:spcAft>
              <a:buSzPct val="100000"/>
              <a:buChar char="–"/>
            </a:pPr>
            <a:r>
              <a:rPr lang="en-US" altLang="en-US"/>
              <a:t>A trained and evaluated NLP Chatbot Model.</a:t>
            </a:r>
          </a:p>
          <a:p>
            <a:pPr marL="742950" lvl="1" indent="-259080" algn="l" rtl="0">
              <a:lnSpc>
                <a:spcPct val="100000"/>
              </a:lnSpc>
              <a:spcBef>
                <a:spcPts val="520"/>
              </a:spcBef>
              <a:spcAft>
                <a:spcPts val="0"/>
              </a:spcAft>
              <a:buSzPct val="100000"/>
              <a:buChar char="–"/>
            </a:pPr>
            <a:r>
              <a:rPr lang="en-US" altLang="en-US"/>
              <a:t>A user-friendly MERN Stack Portal for farmers to interact with the bot.</a:t>
            </a:r>
          </a:p>
          <a:p>
            <a:pPr marL="742950" lvl="1" indent="-259080" algn="l" rtl="0">
              <a:lnSpc>
                <a:spcPct val="100000"/>
              </a:lnSpc>
              <a:spcBef>
                <a:spcPts val="520"/>
              </a:spcBef>
              <a:spcAft>
                <a:spcPts val="0"/>
              </a:spcAft>
              <a:buSzPct val="100000"/>
              <a:buChar char="–"/>
            </a:pPr>
            <a:r>
              <a:rPr lang="en-US" altLang="en-US"/>
              <a:t>Documentation detailing the knowledge base, model architecture, and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Methodology</a:t>
            </a:r>
          </a:p>
        </p:txBody>
      </p:sp>
      <p:sp>
        <p:nvSpPr>
          <p:cNvPr id="139" name="Google Shape;139;p21"/>
          <p:cNvSpPr txBox="1">
            <a:spLocks noGrp="1"/>
          </p:cNvSpPr>
          <p:nvPr>
            <p:ph type="body" idx="4294967295"/>
          </p:nvPr>
        </p:nvSpPr>
        <p:spPr>
          <a:xfrm>
            <a:off x="228600" y="990600"/>
            <a:ext cx="8742045" cy="5727065"/>
          </a:xfrm>
          <a:prstGeom prst="rect">
            <a:avLst/>
          </a:prstGeom>
          <a:noFill/>
          <a:ln>
            <a:noFill/>
          </a:ln>
        </p:spPr>
        <p:txBody>
          <a:bodyPr spcFirstLastPara="1" wrap="square" lIns="91425" tIns="45700" rIns="91425" bIns="45700" anchor="t" anchorCtr="0">
            <a:normAutofit/>
          </a:bodyPr>
          <a:lstStyle/>
          <a:p>
            <a:pPr marL="342900" lvl="0" indent="-327660" algn="just" rtl="0">
              <a:lnSpc>
                <a:spcPct val="90000"/>
              </a:lnSpc>
              <a:spcBef>
                <a:spcPts val="1000"/>
              </a:spcBef>
              <a:spcAft>
                <a:spcPts val="0"/>
              </a:spcAft>
              <a:buSzPct val="168000"/>
              <a:buChar char="•"/>
            </a:pPr>
            <a:r>
              <a:rPr lang="en-US" sz="1900" b="1"/>
              <a:t>Methodology of diagnosing pneumonia is using machine learning and portal using MERN stack</a:t>
            </a:r>
            <a:endParaRPr sz="1900" b="1"/>
          </a:p>
          <a:p>
            <a:pPr marL="342900" lvl="0" indent="-327660" algn="just" rtl="0">
              <a:lnSpc>
                <a:spcPct val="90000"/>
              </a:lnSpc>
              <a:spcBef>
                <a:spcPts val="1000"/>
              </a:spcBef>
              <a:spcAft>
                <a:spcPts val="0"/>
              </a:spcAft>
              <a:buSzPct val="168000"/>
              <a:buChar char="•"/>
            </a:pPr>
            <a:r>
              <a:rPr lang="en-US" altLang="en-US" sz="1900"/>
              <a:t>Data Collection &amp; Knowledge Base Creation:</a:t>
            </a:r>
          </a:p>
          <a:p>
            <a:pPr marL="342900" lvl="0" indent="-327660" algn="just" rtl="0">
              <a:lnSpc>
                <a:spcPct val="90000"/>
              </a:lnSpc>
              <a:spcBef>
                <a:spcPts val="1000"/>
              </a:spcBef>
              <a:spcAft>
                <a:spcPts val="0"/>
              </a:spcAft>
              <a:buSzPct val="168000"/>
              <a:buChar char="•"/>
            </a:pPr>
            <a:r>
              <a:rPr lang="en-US" altLang="en-US" sz="1900"/>
              <a:t>Curate a comprehensive dataset of agricultural questions and expert answers (Q&amp;A pairs).</a:t>
            </a:r>
          </a:p>
          <a:p>
            <a:pPr marL="342900" lvl="0" indent="-327660" algn="just" rtl="0">
              <a:lnSpc>
                <a:spcPct val="90000"/>
              </a:lnSpc>
              <a:spcBef>
                <a:spcPts val="1000"/>
              </a:spcBef>
              <a:spcAft>
                <a:spcPts val="0"/>
              </a:spcAft>
              <a:buSzPct val="168000"/>
              <a:buChar char="•"/>
            </a:pPr>
            <a:r>
              <a:rPr lang="en-US" altLang="en-US" sz="1900"/>
              <a:t>Gather crop-specific data (diseases, pests, nutrient requirements).</a:t>
            </a:r>
          </a:p>
          <a:p>
            <a:pPr marL="342900" lvl="0" indent="-327660" algn="just" rtl="0">
              <a:lnSpc>
                <a:spcPct val="90000"/>
              </a:lnSpc>
              <a:spcBef>
                <a:spcPts val="1000"/>
              </a:spcBef>
              <a:spcAft>
                <a:spcPts val="0"/>
              </a:spcAft>
              <a:buSzPct val="168000"/>
              <a:buChar char="•"/>
            </a:pPr>
            <a:r>
              <a:rPr lang="en-US" altLang="en-US" sz="1900"/>
              <a:t>Data Preprocessing:</a:t>
            </a:r>
          </a:p>
          <a:p>
            <a:pPr marL="342900" lvl="0" indent="-327660" algn="just" rtl="0">
              <a:lnSpc>
                <a:spcPct val="90000"/>
              </a:lnSpc>
              <a:spcBef>
                <a:spcPts val="1000"/>
              </a:spcBef>
              <a:spcAft>
                <a:spcPts val="0"/>
              </a:spcAft>
              <a:buSzPct val="168000"/>
              <a:buChar char="•"/>
            </a:pPr>
            <a:r>
              <a:rPr lang="en-US" altLang="en-US" sz="1900"/>
              <a:t>Tokenization, stemming, and stop-word removal for text data.</a:t>
            </a:r>
          </a:p>
          <a:p>
            <a:pPr marL="342900" lvl="0" indent="-327660" algn="just" rtl="0">
              <a:lnSpc>
                <a:spcPct val="90000"/>
              </a:lnSpc>
              <a:spcBef>
                <a:spcPts val="1000"/>
              </a:spcBef>
              <a:spcAft>
                <a:spcPts val="0"/>
              </a:spcAft>
              <a:buSzPct val="168000"/>
              <a:buChar char="•"/>
            </a:pPr>
            <a:r>
              <a:rPr lang="en-US" altLang="en-US" sz="1900"/>
              <a:t>Data augmentation to cover various phrasing of farmer queries.</a:t>
            </a:r>
          </a:p>
          <a:p>
            <a:pPr marL="342900" lvl="0" indent="-327660" algn="just" rtl="0">
              <a:lnSpc>
                <a:spcPct val="90000"/>
              </a:lnSpc>
              <a:spcBef>
                <a:spcPts val="1000"/>
              </a:spcBef>
              <a:spcAft>
                <a:spcPts val="0"/>
              </a:spcAft>
              <a:buSzPct val="168000"/>
              <a:buChar char="•"/>
            </a:pPr>
            <a:r>
              <a:rPr lang="en-US" altLang="en-US" sz="1900"/>
              <a:t>NLP Model Development (Seq2Seq/Transformer):</a:t>
            </a:r>
          </a:p>
          <a:p>
            <a:pPr marL="342900" lvl="0" indent="-327660" algn="just" rtl="0">
              <a:lnSpc>
                <a:spcPct val="90000"/>
              </a:lnSpc>
              <a:spcBef>
                <a:spcPts val="1000"/>
              </a:spcBef>
              <a:spcAft>
                <a:spcPts val="0"/>
              </a:spcAft>
              <a:buSzPct val="168000"/>
              <a:buChar char="•"/>
            </a:pPr>
            <a:r>
              <a:rPr lang="en-US" altLang="en-US" sz="1900"/>
              <a:t>Develop a deep learning model capable of mapping farmer queries (input sequence) to relevant expert answers (output sequence).</a:t>
            </a:r>
          </a:p>
          <a:p>
            <a:pPr marL="342900" lvl="0" indent="-327660" algn="just" rtl="0">
              <a:lnSpc>
                <a:spcPct val="90000"/>
              </a:lnSpc>
              <a:spcBef>
                <a:spcPts val="1000"/>
              </a:spcBef>
              <a:spcAft>
                <a:spcPts val="0"/>
              </a:spcAft>
              <a:buSzPct val="168000"/>
              <a:buChar char="•"/>
            </a:pPr>
            <a:r>
              <a:rPr lang="en-US" altLang="en-US" sz="1900"/>
              <a:t>Train and optimize the model using techniques like hyperparameter tuning.</a:t>
            </a:r>
          </a:p>
          <a:p>
            <a:pPr marL="342900" lvl="0" indent="-327660" algn="just" rtl="0">
              <a:lnSpc>
                <a:spcPct val="90000"/>
              </a:lnSpc>
              <a:spcBef>
                <a:spcPts val="1000"/>
              </a:spcBef>
              <a:spcAft>
                <a:spcPts val="0"/>
              </a:spcAft>
              <a:buSzPct val="168000"/>
              <a:buChar char="•"/>
            </a:pPr>
            <a:endParaRPr lang="en-US" altLang="en-US" sz="1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Methodology</a:t>
            </a:r>
          </a:p>
        </p:txBody>
      </p:sp>
      <p:sp>
        <p:nvSpPr>
          <p:cNvPr id="145" name="Google Shape;145;p22"/>
          <p:cNvSpPr txBox="1">
            <a:spLocks noGrp="1"/>
          </p:cNvSpPr>
          <p:nvPr>
            <p:ph type="body" idx="4294967295"/>
          </p:nvPr>
        </p:nvSpPr>
        <p:spPr>
          <a:xfrm>
            <a:off x="228600" y="990600"/>
            <a:ext cx="8610600" cy="6165215"/>
          </a:xfrm>
          <a:prstGeom prst="rect">
            <a:avLst/>
          </a:prstGeom>
          <a:noFill/>
          <a:ln>
            <a:noFill/>
          </a:ln>
        </p:spPr>
        <p:txBody>
          <a:bodyPr spcFirstLastPara="1" wrap="square" lIns="91425" tIns="45700" rIns="91425" bIns="45700" anchor="t" anchorCtr="0">
            <a:normAutofit/>
          </a:bodyPr>
          <a:lstStyle/>
          <a:p>
            <a:pPr marL="342900" lvl="0" indent="-327660" algn="just" rtl="0">
              <a:lnSpc>
                <a:spcPct val="90000"/>
              </a:lnSpc>
              <a:spcBef>
                <a:spcPts val="1000"/>
              </a:spcBef>
              <a:spcAft>
                <a:spcPts val="0"/>
              </a:spcAft>
              <a:buSzPct val="168000"/>
              <a:buChar char="•"/>
            </a:pPr>
            <a:r>
              <a:rPr lang="en-US" altLang="en-US" sz="2400">
                <a:sym typeface="+mn-ea"/>
              </a:rPr>
              <a:t>Web Portal Development (MERN Stack):</a:t>
            </a:r>
            <a:endParaRPr lang="en-US" altLang="en-US" sz="2400"/>
          </a:p>
          <a:p>
            <a:pPr marL="342900" lvl="0" indent="-327660" algn="just" rtl="0">
              <a:lnSpc>
                <a:spcPct val="90000"/>
              </a:lnSpc>
              <a:spcBef>
                <a:spcPts val="1000"/>
              </a:spcBef>
              <a:spcAft>
                <a:spcPts val="0"/>
              </a:spcAft>
              <a:buSzPct val="168000"/>
              <a:buChar char="•"/>
            </a:pPr>
            <a:r>
              <a:rPr lang="en-US" altLang="en-US" sz="2400">
                <a:sym typeface="+mn-ea"/>
              </a:rPr>
              <a:t>              Build the frontend (React) and backend (Node.js/Express) for the chatbot interface.</a:t>
            </a:r>
            <a:endParaRPr lang="en-US" altLang="en-US" sz="2400"/>
          </a:p>
          <a:p>
            <a:pPr marL="342900" lvl="0" indent="-327660" algn="just" rtl="0">
              <a:lnSpc>
                <a:spcPct val="90000"/>
              </a:lnSpc>
              <a:spcBef>
                <a:spcPts val="1000"/>
              </a:spcBef>
              <a:spcAft>
                <a:spcPts val="0"/>
              </a:spcAft>
              <a:buSzPct val="168000"/>
              <a:buChar char="•"/>
            </a:pPr>
            <a:r>
              <a:rPr lang="en-US" altLang="en-US" sz="2400">
                <a:sym typeface="+mn-ea"/>
              </a:rPr>
              <a:t>              Use MongoDB to store user interactions and the knowledge base.</a:t>
            </a:r>
            <a:endParaRPr lang="en-US" altLang="en-US" sz="2400"/>
          </a:p>
          <a:p>
            <a:pPr marL="342900" lvl="0" indent="-327660" algn="just" rtl="0">
              <a:lnSpc>
                <a:spcPct val="90000"/>
              </a:lnSpc>
              <a:spcBef>
                <a:spcPts val="1000"/>
              </a:spcBef>
              <a:spcAft>
                <a:spcPts val="0"/>
              </a:spcAft>
              <a:buSzPct val="168000"/>
              <a:buChar char="•"/>
            </a:pPr>
            <a:r>
              <a:rPr lang="en-US" altLang="en-US" sz="2400">
                <a:sym typeface="+mn-ea"/>
              </a:rPr>
              <a:t>Integration and Testing:</a:t>
            </a:r>
            <a:endParaRPr lang="en-US" altLang="en-US" sz="2400"/>
          </a:p>
          <a:p>
            <a:pPr marL="342900" lvl="0" indent="-327660" algn="just" rtl="0">
              <a:lnSpc>
                <a:spcPct val="90000"/>
              </a:lnSpc>
              <a:spcBef>
                <a:spcPts val="1000"/>
              </a:spcBef>
              <a:spcAft>
                <a:spcPts val="0"/>
              </a:spcAft>
              <a:buSzPct val="168000"/>
              <a:buChar char="•"/>
            </a:pPr>
            <a:r>
              <a:rPr lang="en-US" altLang="en-US" sz="2400">
                <a:sym typeface="+mn-ea"/>
              </a:rPr>
              <a:t>              Integrate the trained NLP model with the MERN application.</a:t>
            </a:r>
            <a:endParaRPr lang="en-US" altLang="en-US" sz="2400"/>
          </a:p>
          <a:p>
            <a:pPr marL="342900" lvl="0" indent="-327660" algn="just" rtl="0">
              <a:lnSpc>
                <a:spcPct val="90000"/>
              </a:lnSpc>
              <a:spcBef>
                <a:spcPts val="1000"/>
              </a:spcBef>
              <a:spcAft>
                <a:spcPts val="0"/>
              </a:spcAft>
              <a:buSzPct val="168000"/>
              <a:buChar char="•"/>
            </a:pPr>
            <a:r>
              <a:rPr lang="en-US" altLang="en-US" sz="2400">
                <a:sym typeface="+mn-ea"/>
              </a:rPr>
              <a:t>              Test the system extensively for accuracy, response time, and reliability in answering diverse farmer queries.</a:t>
            </a:r>
            <a:endParaRPr lang="en-US" altLang="en-US" sz="2400"/>
          </a:p>
          <a:p>
            <a:pPr marL="342900" lvl="0" indent="-342900" algn="l" rtl="0">
              <a:lnSpc>
                <a:spcPct val="100000"/>
              </a:lnSpc>
              <a:spcBef>
                <a:spcPts val="0"/>
              </a:spcBef>
              <a:spcAft>
                <a:spcPts val="0"/>
              </a:spcAft>
              <a:buSzPts val="3200"/>
              <a:buChar char="•"/>
            </a:pPr>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idx="4294967295"/>
          </p:nvPr>
        </p:nvSpPr>
        <p:spPr>
          <a:xfrm>
            <a:off x="9144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5000"/>
              <a:buFont typeface="Calibri" panose="020F0502020204030204"/>
              <a:buNone/>
            </a:pPr>
            <a:r>
              <a:rPr lang="en-US" sz="3760"/>
              <a:t>Architecture Diagram/Flow</a:t>
            </a:r>
          </a:p>
        </p:txBody>
      </p:sp>
      <p:pic>
        <p:nvPicPr>
          <p:cNvPr id="2" name="Picture 1" descr="agri1"/>
          <p:cNvPicPr>
            <a:picLocks noChangeAspect="1"/>
          </p:cNvPicPr>
          <p:nvPr/>
        </p:nvPicPr>
        <p:blipFill>
          <a:blip r:embed="rId3"/>
          <a:stretch>
            <a:fillRect/>
          </a:stretch>
        </p:blipFill>
        <p:spPr>
          <a:xfrm>
            <a:off x="522605" y="1482090"/>
            <a:ext cx="7311390" cy="4629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Design-Use Case Diagram</a:t>
            </a:r>
          </a:p>
        </p:txBody>
      </p:sp>
      <p:sp>
        <p:nvSpPr>
          <p:cNvPr id="157" name="Google Shape;157;p24"/>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3200"/>
              <a:buChar char="•"/>
            </a:pPr>
            <a:r>
              <a:rPr lang="en-US" sz="2800"/>
              <a:t>UML DIAGRAMS</a:t>
            </a:r>
            <a:endParaRPr sz="2800"/>
          </a:p>
          <a:p>
            <a:pPr marL="342900" lvl="0" indent="-342900" algn="l" rtl="0">
              <a:lnSpc>
                <a:spcPct val="100000"/>
              </a:lnSpc>
              <a:spcBef>
                <a:spcPts val="0"/>
              </a:spcBef>
              <a:spcAft>
                <a:spcPts val="0"/>
              </a:spcAft>
              <a:buSzPts val="3200"/>
              <a:buChar char="•"/>
            </a:pPr>
            <a:r>
              <a:rPr lang="en-US" sz="2800"/>
              <a:t> Use case Diagram:A use case diagram is a graph of actors set of use cases  enclosed by a system boundary, communication associations between the actors  and users and generalization among use cases. </a:t>
            </a:r>
            <a:endParaRPr sz="2800"/>
          </a:p>
          <a:p>
            <a:pPr marL="342900" lvl="0" indent="-342900" algn="l" rtl="0">
              <a:lnSpc>
                <a:spcPct val="100000"/>
              </a:lnSpc>
              <a:spcBef>
                <a:spcPts val="0"/>
              </a:spcBef>
              <a:spcAft>
                <a:spcPts val="0"/>
              </a:spcAft>
              <a:buSzPts val="3200"/>
              <a:buChar char="•"/>
            </a:pPr>
            <a:r>
              <a:rPr lang="en-US" sz="2800"/>
              <a:t>The use casee model defines the  outside (actors) and inside (use case) of the system’s behavior.</a:t>
            </a:r>
            <a:endParaRPr sz="2800"/>
          </a:p>
          <a:p>
            <a:pPr marL="342900" lvl="0" indent="-342900" algn="l" rtl="0">
              <a:lnSpc>
                <a:spcPct val="100000"/>
              </a:lnSpc>
              <a:spcBef>
                <a:spcPts val="0"/>
              </a:spcBef>
              <a:spcAft>
                <a:spcPts val="0"/>
              </a:spcAft>
              <a:buSzPts val="3200"/>
              <a:buChar char="•"/>
            </a:pPr>
            <a:r>
              <a:rPr lang="en-US" sz="2800"/>
              <a:t>USER          </a:t>
            </a:r>
            <a:endParaRPr sz="2800"/>
          </a:p>
          <a:p>
            <a:pPr marL="342900" lvl="0" indent="-317500" algn="l" rtl="0">
              <a:lnSpc>
                <a:spcPct val="100000"/>
              </a:lnSpc>
              <a:spcBef>
                <a:spcPts val="0"/>
              </a:spcBef>
              <a:spcAft>
                <a:spcPts val="0"/>
              </a:spcAft>
              <a:buSzPts val="2800"/>
              <a:buChar char="•"/>
            </a:pPr>
            <a:endParaRPr sz="2800"/>
          </a:p>
        </p:txBody>
      </p:sp>
      <p:pic>
        <p:nvPicPr>
          <p:cNvPr id="2" name="Picture 0" descr="images"/>
          <p:cNvPicPr>
            <a:picLocks noChangeAspect="1"/>
          </p:cNvPicPr>
          <p:nvPr/>
        </p:nvPicPr>
        <p:blipFill>
          <a:blip r:embed="rId3"/>
          <a:stretch>
            <a:fillRect/>
          </a:stretch>
        </p:blipFill>
        <p:spPr>
          <a:xfrm>
            <a:off x="1390015" y="4020185"/>
            <a:ext cx="6666230" cy="26454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Design-Use Case Diagram</a:t>
            </a:r>
          </a:p>
        </p:txBody>
      </p:sp>
      <p:sp>
        <p:nvSpPr>
          <p:cNvPr id="164" name="Google Shape;164;p2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3200"/>
              <a:buChar char="•"/>
            </a:pPr>
            <a:r>
              <a:rPr lang="en-US" sz="2800"/>
              <a:t>UML DIAGRAMS</a:t>
            </a:r>
            <a:endParaRPr sz="2800"/>
          </a:p>
          <a:p>
            <a:pPr marL="342900" lvl="0" indent="-342900" algn="l" rtl="0">
              <a:lnSpc>
                <a:spcPct val="100000"/>
              </a:lnSpc>
              <a:spcBef>
                <a:spcPts val="0"/>
              </a:spcBef>
              <a:spcAft>
                <a:spcPts val="0"/>
              </a:spcAft>
              <a:buSzPts val="3200"/>
              <a:buChar char="•"/>
            </a:pPr>
            <a:r>
              <a:rPr lang="en-US" sz="2800"/>
              <a:t> ADMIN</a:t>
            </a:r>
            <a:endParaRPr sz="2800"/>
          </a:p>
          <a:p>
            <a:pPr marL="342900" lvl="0" indent="-317500" algn="l" rtl="0">
              <a:lnSpc>
                <a:spcPct val="100000"/>
              </a:lnSpc>
              <a:spcBef>
                <a:spcPts val="0"/>
              </a:spcBef>
              <a:spcAft>
                <a:spcPts val="0"/>
              </a:spcAft>
              <a:buSzPts val="2800"/>
              <a:buChar char="•"/>
            </a:pPr>
            <a:endParaRPr sz="2800"/>
          </a:p>
        </p:txBody>
      </p:sp>
      <p:pic>
        <p:nvPicPr>
          <p:cNvPr id="2" name="Picture 0" descr="images"/>
          <p:cNvPicPr>
            <a:picLocks noChangeAspect="1"/>
          </p:cNvPicPr>
          <p:nvPr/>
        </p:nvPicPr>
        <p:blipFill>
          <a:blip r:embed="rId3"/>
          <a:stretch>
            <a:fillRect/>
          </a:stretch>
        </p:blipFill>
        <p:spPr>
          <a:xfrm>
            <a:off x="1181100" y="1842770"/>
            <a:ext cx="6837045" cy="4614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Design-Class Diagram</a:t>
            </a:r>
          </a:p>
        </p:txBody>
      </p:sp>
      <p:sp>
        <p:nvSpPr>
          <p:cNvPr id="171" name="Google Shape;171;p2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3200"/>
              <a:buChar char="•"/>
            </a:pPr>
            <a:r>
              <a:rPr lang="en-US" sz="2800"/>
              <a:t>Class Diagram:A class is a representation of an object and, in many ways; it is simply a template from which objects are created. Classes form the main building blocks of an object-oriented application. </a:t>
            </a:r>
            <a:endParaRPr sz="2800"/>
          </a:p>
          <a:p>
            <a:pPr marL="342900" lvl="0" indent="-342900" algn="l" rtl="0">
              <a:lnSpc>
                <a:spcPct val="100000"/>
              </a:lnSpc>
              <a:spcBef>
                <a:spcPts val="0"/>
              </a:spcBef>
              <a:spcAft>
                <a:spcPts val="0"/>
              </a:spcAft>
              <a:buSzPts val="3200"/>
              <a:buChar char="•"/>
            </a:pPr>
            <a:r>
              <a:rPr lang="en-US" sz="2800"/>
              <a:t>Although thousands of students attend the university, you would only model one class, called Student, which would represent the represent the entire collection of students.</a:t>
            </a:r>
            <a:endParaRPr sz="2800"/>
          </a:p>
          <a:p>
            <a:pPr marL="342900" lvl="0" indent="-342900" algn="l" rtl="0">
              <a:lnSpc>
                <a:spcPct val="100000"/>
              </a:lnSpc>
              <a:spcBef>
                <a:spcPts val="0"/>
              </a:spcBef>
              <a:spcAft>
                <a:spcPts val="0"/>
              </a:spcAft>
              <a:buSzPts val="3200"/>
              <a:buChar char="•"/>
            </a:pPr>
            <a:endParaRPr sz="2800"/>
          </a:p>
          <a:p>
            <a:pPr marL="342900" lvl="0" indent="-317500" algn="l" rtl="0">
              <a:lnSpc>
                <a:spcPct val="100000"/>
              </a:lnSpc>
              <a:spcBef>
                <a:spcPts val="0"/>
              </a:spcBef>
              <a:spcAft>
                <a:spcPts val="0"/>
              </a:spcAft>
              <a:buSzPts val="2800"/>
              <a:buChar char="•"/>
            </a:pPr>
            <a:endParaRPr sz="2800"/>
          </a:p>
          <a:p>
            <a:pPr marL="342900" lvl="0" indent="-317500" algn="l" rtl="0">
              <a:lnSpc>
                <a:spcPct val="100000"/>
              </a:lnSpc>
              <a:spcBef>
                <a:spcPts val="0"/>
              </a:spcBef>
              <a:spcAft>
                <a:spcPts val="0"/>
              </a:spcAft>
              <a:buSzPts val="2800"/>
              <a:buChar char="•"/>
            </a:pP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Sequence Diagram - ecommerce example</a:t>
            </a:r>
          </a:p>
        </p:txBody>
      </p:sp>
      <p:pic>
        <p:nvPicPr>
          <p:cNvPr id="178" name="Google Shape;178;p27"/>
          <p:cNvPicPr preferRelativeResize="0"/>
          <p:nvPr/>
        </p:nvPicPr>
        <p:blipFill rotWithShape="1">
          <a:blip r:embed="rId3"/>
          <a:srcRect/>
          <a:stretch>
            <a:fillRect/>
          </a:stretch>
        </p:blipFill>
        <p:spPr>
          <a:xfrm>
            <a:off x="152400" y="1066938"/>
            <a:ext cx="8630236" cy="56386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Sequence Diagram</a:t>
            </a:r>
          </a:p>
        </p:txBody>
      </p:sp>
      <p:pic>
        <p:nvPicPr>
          <p:cNvPr id="184" name="Google Shape;184;p28"/>
          <p:cNvPicPr preferRelativeResize="0"/>
          <p:nvPr/>
        </p:nvPicPr>
        <p:blipFill rotWithShape="1">
          <a:blip r:embed="rId3"/>
          <a:srcRect r="-6974" b="-17148"/>
          <a:stretch>
            <a:fillRect/>
          </a:stretch>
        </p:blipFill>
        <p:spPr>
          <a:xfrm>
            <a:off x="176125" y="1022934"/>
            <a:ext cx="8510675" cy="5405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9"/>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22000"/>
              <a:buFont typeface="Arial" panose="020B0604020202020204"/>
              <a:buNone/>
            </a:pPr>
            <a:r>
              <a:rPr lang="en-US" sz="4000"/>
              <a:t>Sequence Diagram</a:t>
            </a:r>
          </a:p>
        </p:txBody>
      </p:sp>
      <p:pic>
        <p:nvPicPr>
          <p:cNvPr id="192" name="Google Shape;192;p29"/>
          <p:cNvPicPr preferRelativeResize="0"/>
          <p:nvPr/>
        </p:nvPicPr>
        <p:blipFill rotWithShape="1">
          <a:blip r:embed="rId3"/>
          <a:srcRect/>
          <a:stretch>
            <a:fillRect/>
          </a:stretch>
        </p:blipFill>
        <p:spPr>
          <a:xfrm>
            <a:off x="265331" y="1096996"/>
            <a:ext cx="8421469" cy="5264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Algorithms used</a:t>
            </a:r>
          </a:p>
        </p:txBody>
      </p:sp>
      <p:sp>
        <p:nvSpPr>
          <p:cNvPr id="198" name="Google Shape;198;p30"/>
          <p:cNvSpPr txBox="1">
            <a:spLocks noGrp="1"/>
          </p:cNvSpPr>
          <p:nvPr>
            <p:ph type="body" idx="4294967295"/>
          </p:nvPr>
        </p:nvSpPr>
        <p:spPr>
          <a:xfrm>
            <a:off x="228600" y="990600"/>
            <a:ext cx="8610600" cy="821055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3200"/>
              <a:buChar char="•"/>
            </a:pPr>
            <a:r>
              <a:rPr lang="en-US" altLang="en-US" sz="2400"/>
              <a:t>1. Transformer Network (or similar Deep Learning NLP Model)</a:t>
            </a:r>
          </a:p>
          <a:p>
            <a:pPr marL="342900" lvl="0" indent="-342900" algn="l" rtl="0">
              <a:lnSpc>
                <a:spcPct val="100000"/>
              </a:lnSpc>
              <a:spcBef>
                <a:spcPts val="0"/>
              </a:spcBef>
              <a:spcAft>
                <a:spcPts val="0"/>
              </a:spcAft>
              <a:buSzPts val="3200"/>
              <a:buChar char="•"/>
            </a:pPr>
            <a:r>
              <a:rPr lang="en-US" altLang="en-US" sz="2400"/>
              <a:t>The core model for the chatbot's Sequence-to-Sequence (Seq2Seq) task.</a:t>
            </a:r>
          </a:p>
          <a:p>
            <a:pPr marL="342900" lvl="0" indent="-342900" algn="l" rtl="0">
              <a:lnSpc>
                <a:spcPct val="100000"/>
              </a:lnSpc>
              <a:spcBef>
                <a:spcPts val="0"/>
              </a:spcBef>
              <a:spcAft>
                <a:spcPts val="0"/>
              </a:spcAft>
              <a:buSzPts val="3200"/>
              <a:buChar char="•"/>
            </a:pPr>
            <a:endParaRPr lang="en-US" altLang="en-US" sz="2400"/>
          </a:p>
          <a:p>
            <a:pPr marL="342900" lvl="0" indent="-342900" algn="l" rtl="0">
              <a:lnSpc>
                <a:spcPct val="100000"/>
              </a:lnSpc>
              <a:spcBef>
                <a:spcPts val="0"/>
              </a:spcBef>
              <a:spcAft>
                <a:spcPts val="0"/>
              </a:spcAft>
              <a:buSzPts val="3200"/>
              <a:buChar char="•"/>
            </a:pPr>
            <a:r>
              <a:rPr lang="en-US" altLang="en-US" sz="2400"/>
              <a:t>Purpose: To process the natural language input (farmer's question) and generate the most relevant, context-specific, and accurate natural language response (advice).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Algorithms used</a:t>
            </a:r>
          </a:p>
        </p:txBody>
      </p:sp>
      <p:sp>
        <p:nvSpPr>
          <p:cNvPr id="204" name="Google Shape;204;p31"/>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3200"/>
              <a:buChar char="•"/>
            </a:pPr>
            <a:r>
              <a:rPr lang="en-US"/>
              <a:t>The project uses following Algorithms:</a:t>
            </a:r>
          </a:p>
          <a:p>
            <a:pPr marL="342900" lvl="0" indent="-342900" algn="l" rtl="0">
              <a:lnSpc>
                <a:spcPct val="100000"/>
              </a:lnSpc>
              <a:spcBef>
                <a:spcPts val="0"/>
              </a:spcBef>
              <a:spcAft>
                <a:spcPts val="0"/>
              </a:spcAft>
              <a:buSzPts val="3459"/>
              <a:buChar char="•"/>
            </a:pPr>
            <a:r>
              <a:rPr lang="en-US" sz="2400"/>
              <a:t>Margin-based Embedding Model:</a:t>
            </a:r>
            <a:endParaRPr sz="2400"/>
          </a:p>
          <a:p>
            <a:pPr marL="742950" lvl="1" indent="-327660" algn="l" rtl="0">
              <a:lnSpc>
                <a:spcPct val="100000"/>
              </a:lnSpc>
              <a:spcBef>
                <a:spcPts val="0"/>
              </a:spcBef>
              <a:spcAft>
                <a:spcPts val="0"/>
              </a:spcAft>
              <a:buSzPts val="3459"/>
              <a:buChar char="–"/>
            </a:pPr>
            <a:r>
              <a:rPr lang="en-US" sz="2400"/>
              <a:t>A Margin-based Embedding Model for Predicting Early Reviewers. Our model</a:t>
            </a:r>
            <a:endParaRPr sz="2400"/>
          </a:p>
          <a:p>
            <a:pPr marL="742950" lvl="1" indent="-327660" algn="l" rtl="0">
              <a:lnSpc>
                <a:spcPct val="100000"/>
              </a:lnSpc>
              <a:spcBef>
                <a:spcPts val="0"/>
              </a:spcBef>
              <a:spcAft>
                <a:spcPts val="0"/>
              </a:spcAft>
              <a:buSzPts val="3459"/>
              <a:buChar char="–"/>
            </a:pPr>
            <a:r>
              <a:rPr lang="en-US" sz="2400"/>
              <a:t>Can characterize both user comparison relations and the information from the Product side. Hence, it is expected to give better performance than the baseline Methods. </a:t>
            </a:r>
            <a:endParaRPr sz="2400"/>
          </a:p>
          <a:p>
            <a:pPr marL="742950" lvl="1" indent="-327660" algn="l" rtl="0">
              <a:lnSpc>
                <a:spcPct val="100000"/>
              </a:lnSpc>
              <a:spcBef>
                <a:spcPts val="0"/>
              </a:spcBef>
              <a:spcAft>
                <a:spcPts val="0"/>
              </a:spcAft>
              <a:buSzPts val="3459"/>
              <a:buChar char="–"/>
            </a:pPr>
            <a:r>
              <a:rPr lang="en-US" sz="2400"/>
              <a:t>Example: User Reviews are combined with product description i.e. if a user has given  positive review for Kurtas and mentions about quality of cloth then product descriptions which has good quality of cloth and of type kurtas are most likely to be bought by the user.</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Hardware and software selection </a:t>
            </a:r>
          </a:p>
        </p:txBody>
      </p:sp>
      <p:sp>
        <p:nvSpPr>
          <p:cNvPr id="210" name="Google Shape;210;p32"/>
          <p:cNvSpPr txBox="1">
            <a:spLocks noGrp="1"/>
          </p:cNvSpPr>
          <p:nvPr>
            <p:ph type="body" idx="4294967295"/>
          </p:nvPr>
        </p:nvSpPr>
        <p:spPr>
          <a:xfrm>
            <a:off x="122722" y="967339"/>
            <a:ext cx="9021300" cy="5755800"/>
          </a:xfrm>
          <a:prstGeom prst="rect">
            <a:avLst/>
          </a:prstGeom>
          <a:noFill/>
          <a:ln>
            <a:noFill/>
          </a:ln>
        </p:spPr>
        <p:txBody>
          <a:bodyPr spcFirstLastPara="1" wrap="square" lIns="91425" tIns="45700" rIns="91425" bIns="45700" anchor="t" anchorCtr="0">
            <a:normAutofit/>
          </a:bodyPr>
          <a:lstStyle/>
          <a:p>
            <a:pPr marL="457200" lvl="0" indent="-457200" algn="l" rtl="0">
              <a:lnSpc>
                <a:spcPct val="100000"/>
              </a:lnSpc>
              <a:spcBef>
                <a:spcPts val="0"/>
              </a:spcBef>
              <a:spcAft>
                <a:spcPts val="0"/>
              </a:spcAft>
              <a:buSzPts val="3200"/>
              <a:buFont typeface="Noto Sans Symbols"/>
              <a:buChar char="✔"/>
            </a:pPr>
            <a:r>
              <a:rPr lang="en-US"/>
              <a:t>Sensors</a:t>
            </a:r>
          </a:p>
          <a:p>
            <a:pPr marL="914400" lvl="1" indent="-457200" algn="l" rtl="0">
              <a:lnSpc>
                <a:spcPct val="100000"/>
              </a:lnSpc>
              <a:spcBef>
                <a:spcPts val="0"/>
              </a:spcBef>
              <a:spcAft>
                <a:spcPts val="0"/>
              </a:spcAft>
              <a:buSzPts val="2400"/>
              <a:buFont typeface="Arial" panose="020B0604020202020204"/>
              <a:buChar char="•"/>
            </a:pPr>
            <a:r>
              <a:rPr lang="en-US" sz="2400"/>
              <a:t>Winsen ZH07 dust and particulate matter sensor.</a:t>
            </a:r>
          </a:p>
          <a:p>
            <a:pPr marL="914400" lvl="1" indent="-457200" algn="l" rtl="0">
              <a:lnSpc>
                <a:spcPct val="100000"/>
              </a:lnSpc>
              <a:spcBef>
                <a:spcPts val="0"/>
              </a:spcBef>
              <a:spcAft>
                <a:spcPts val="0"/>
              </a:spcAft>
              <a:buSzPts val="2400"/>
              <a:buFont typeface="Arial" panose="020B0604020202020204"/>
              <a:buChar char="•"/>
            </a:pPr>
            <a:r>
              <a:rPr lang="en-US" sz="2400"/>
              <a:t>MQ7 – Smoke(CarbonMonoxide)</a:t>
            </a:r>
          </a:p>
          <a:p>
            <a:pPr marL="914400" lvl="1" indent="-457200" algn="l" rtl="0">
              <a:lnSpc>
                <a:spcPct val="100000"/>
              </a:lnSpc>
              <a:spcBef>
                <a:spcPts val="0"/>
              </a:spcBef>
              <a:spcAft>
                <a:spcPts val="0"/>
              </a:spcAft>
              <a:buSzPts val="2400"/>
              <a:buFont typeface="Arial" panose="020B0604020202020204"/>
              <a:buChar char="•"/>
            </a:pPr>
            <a:r>
              <a:rPr lang="en-US" sz="2400"/>
              <a:t>MQ2 – LPG </a:t>
            </a:r>
          </a:p>
          <a:p>
            <a:pPr marL="914400" lvl="1" indent="-457200" algn="l" rtl="0">
              <a:lnSpc>
                <a:spcPct val="100000"/>
              </a:lnSpc>
              <a:spcBef>
                <a:spcPts val="0"/>
              </a:spcBef>
              <a:spcAft>
                <a:spcPts val="0"/>
              </a:spcAft>
              <a:buSzPts val="2400"/>
              <a:buFont typeface="Arial" panose="020B0604020202020204"/>
              <a:buChar char="•"/>
            </a:pPr>
            <a:r>
              <a:rPr lang="en-US" sz="2400"/>
              <a:t>DGT11 – Temperature &amp; Humidity</a:t>
            </a:r>
          </a:p>
          <a:p>
            <a:pPr marL="914400" lvl="1" indent="-457200" algn="l" rtl="0">
              <a:lnSpc>
                <a:spcPct val="100000"/>
              </a:lnSpc>
              <a:spcBef>
                <a:spcPts val="0"/>
              </a:spcBef>
              <a:spcAft>
                <a:spcPts val="0"/>
              </a:spcAft>
              <a:buSzPts val="2400"/>
              <a:buFont typeface="Arial" panose="020B0604020202020204"/>
              <a:buChar char="•"/>
            </a:pPr>
            <a:r>
              <a:rPr lang="en-US" sz="2400"/>
              <a:t>MQ135 – Other harmful gases like NH3, S, C6H6, CO2.. Etc)</a:t>
            </a:r>
          </a:p>
          <a:p>
            <a:pPr marL="457200" lvl="0" indent="-457200" algn="l" rtl="0">
              <a:lnSpc>
                <a:spcPct val="100000"/>
              </a:lnSpc>
              <a:spcBef>
                <a:spcPts val="0"/>
              </a:spcBef>
              <a:spcAft>
                <a:spcPts val="0"/>
              </a:spcAft>
              <a:buSzPts val="3200"/>
              <a:buFont typeface="Noto Sans Symbols"/>
              <a:buChar char="✔"/>
            </a:pPr>
            <a:r>
              <a:rPr lang="en-US"/>
              <a:t>All pollutant </a:t>
            </a:r>
          </a:p>
          <a:p>
            <a:pPr marL="914400" lvl="1" indent="-457200" algn="l" rtl="0">
              <a:lnSpc>
                <a:spcPct val="100000"/>
              </a:lnSpc>
              <a:spcBef>
                <a:spcPts val="0"/>
              </a:spcBef>
              <a:spcAft>
                <a:spcPts val="0"/>
              </a:spcAft>
              <a:buSzPts val="2400"/>
              <a:buFont typeface="Arial" panose="020B0604020202020204"/>
              <a:buChar char="•"/>
            </a:pPr>
            <a:r>
              <a:rPr lang="en-US" sz="2400"/>
              <a:t>CarbonMonoxide(Smoke)</a:t>
            </a:r>
          </a:p>
          <a:p>
            <a:pPr marL="914400" lvl="1" indent="-457200" algn="l" rtl="0">
              <a:lnSpc>
                <a:spcPct val="100000"/>
              </a:lnSpc>
              <a:spcBef>
                <a:spcPts val="0"/>
              </a:spcBef>
              <a:spcAft>
                <a:spcPts val="0"/>
              </a:spcAft>
              <a:buSzPts val="2400"/>
              <a:buFont typeface="Arial" panose="020B0604020202020204"/>
              <a:buChar char="•"/>
            </a:pPr>
            <a:r>
              <a:rPr lang="en-US" sz="2400"/>
              <a:t>LPG</a:t>
            </a:r>
          </a:p>
          <a:p>
            <a:pPr marL="914400" lvl="1" indent="-457200" algn="l" rtl="0">
              <a:lnSpc>
                <a:spcPct val="100000"/>
              </a:lnSpc>
              <a:spcBef>
                <a:spcPts val="0"/>
              </a:spcBef>
              <a:spcAft>
                <a:spcPts val="0"/>
              </a:spcAft>
              <a:buSzPts val="2400"/>
              <a:buFont typeface="Arial" panose="020B0604020202020204"/>
              <a:buChar char="•"/>
            </a:pPr>
            <a:r>
              <a:rPr lang="en-US" sz="2400"/>
              <a:t>NH3, S, C6H6, CO2, </a:t>
            </a:r>
          </a:p>
          <a:p>
            <a:pPr marL="914400" lvl="1" indent="-457200" algn="l" rtl="0">
              <a:lnSpc>
                <a:spcPct val="100000"/>
              </a:lnSpc>
              <a:spcBef>
                <a:spcPts val="0"/>
              </a:spcBef>
              <a:spcAft>
                <a:spcPts val="0"/>
              </a:spcAft>
              <a:buSzPts val="2400"/>
              <a:buFont typeface="Arial" panose="020B0604020202020204"/>
              <a:buChar char="•"/>
            </a:pPr>
            <a:r>
              <a:rPr lang="en-US" sz="2400"/>
              <a:t>Oxygen Level </a:t>
            </a:r>
          </a:p>
          <a:p>
            <a:pPr marL="457200" lvl="0" indent="-457200" algn="l" rtl="0">
              <a:lnSpc>
                <a:spcPct val="100000"/>
              </a:lnSpc>
              <a:spcBef>
                <a:spcPts val="0"/>
              </a:spcBef>
              <a:spcAft>
                <a:spcPts val="0"/>
              </a:spcAft>
              <a:buSzPts val="3200"/>
              <a:buFont typeface="Noto Sans Symbols"/>
              <a:buChar char="✔"/>
            </a:pPr>
            <a:r>
              <a:rPr lang="en-US"/>
              <a:t>Iot enabled microcontroller node mcu</a:t>
            </a:r>
          </a:p>
          <a:p>
            <a:pPr marL="457200" lvl="0" indent="-457200" algn="l" rtl="0">
              <a:lnSpc>
                <a:spcPct val="100000"/>
              </a:lnSpc>
              <a:spcBef>
                <a:spcPts val="0"/>
              </a:spcBef>
              <a:spcAft>
                <a:spcPts val="0"/>
              </a:spcAft>
              <a:buSzPts val="3200"/>
              <a:buFont typeface="Noto Sans Symbols"/>
              <a:buChar char="✔"/>
            </a:pPr>
            <a:r>
              <a:rPr lang="en-US"/>
              <a:t>Iot platform –ThingSpeak </a:t>
            </a:r>
          </a:p>
          <a:p>
            <a:pPr marL="0" lvl="0" indent="0" algn="l" rtl="0">
              <a:lnSpc>
                <a:spcPct val="100000"/>
              </a:lnSpc>
              <a:spcBef>
                <a:spcPts val="0"/>
              </a:spcBef>
              <a:spcAft>
                <a:spcPts val="0"/>
              </a:spcAft>
              <a:buSzPts val="3200"/>
              <a:buNone/>
            </a:pPr>
            <a:endParaRPr lang="en-US"/>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Implementation</a:t>
            </a:r>
          </a:p>
        </p:txBody>
      </p:sp>
      <p:sp>
        <p:nvSpPr>
          <p:cNvPr id="216" name="Google Shape;216;p3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lnSpcReduction="10000"/>
          </a:bodyPr>
          <a:lstStyle/>
          <a:p>
            <a:pPr marL="342900" lvl="0" indent="-327660" algn="l" rtl="0">
              <a:lnSpc>
                <a:spcPct val="100000"/>
              </a:lnSpc>
              <a:spcBef>
                <a:spcPts val="0"/>
              </a:spcBef>
              <a:spcAft>
                <a:spcPts val="0"/>
              </a:spcAft>
              <a:buSzPct val="133000"/>
              <a:buChar char="•"/>
            </a:pPr>
            <a:r>
              <a:rPr lang="en-US" sz="2400"/>
              <a:t>The project is implemented by python using the following libraries:</a:t>
            </a:r>
          </a:p>
          <a:p>
            <a:pPr marL="742950" lvl="1" indent="-272415" algn="l" rtl="0">
              <a:lnSpc>
                <a:spcPct val="100000"/>
              </a:lnSpc>
              <a:spcBef>
                <a:spcPts val="0"/>
              </a:spcBef>
              <a:spcAft>
                <a:spcPts val="0"/>
              </a:spcAft>
              <a:buSzPct val="127000"/>
              <a:buFont typeface="Courier New" panose="02070309020205020404"/>
              <a:buChar char="–"/>
            </a:pPr>
            <a:r>
              <a:rPr lang="en-US" sz="2200"/>
              <a:t>OpenCV</a:t>
            </a:r>
          </a:p>
          <a:p>
            <a:pPr marL="742950" lvl="1" indent="-272415" algn="l" rtl="0">
              <a:lnSpc>
                <a:spcPct val="100000"/>
              </a:lnSpc>
              <a:spcBef>
                <a:spcPts val="0"/>
              </a:spcBef>
              <a:spcAft>
                <a:spcPts val="0"/>
              </a:spcAft>
              <a:buSzPct val="127000"/>
              <a:buFont typeface="Courier New" panose="02070309020205020404"/>
              <a:buChar char="–"/>
            </a:pPr>
            <a:r>
              <a:rPr lang="en-US" sz="2200"/>
              <a:t>PyTorch</a:t>
            </a:r>
            <a:endParaRPr sz="2200"/>
          </a:p>
          <a:p>
            <a:pPr marL="342900" lvl="0" indent="-327660" algn="l" rtl="0">
              <a:lnSpc>
                <a:spcPct val="100000"/>
              </a:lnSpc>
              <a:spcBef>
                <a:spcPts val="0"/>
              </a:spcBef>
              <a:spcAft>
                <a:spcPts val="0"/>
              </a:spcAft>
              <a:buSzPct val="133000"/>
              <a:buChar char="•"/>
            </a:pPr>
            <a:r>
              <a:rPr lang="en-US" sz="2400"/>
              <a:t>The project includes python scripts that can be used to detect an image files.</a:t>
            </a:r>
          </a:p>
          <a:p>
            <a:pPr marL="342900" lvl="0" indent="-327660" algn="l" rtl="0">
              <a:lnSpc>
                <a:spcPct val="100000"/>
              </a:lnSpc>
              <a:spcBef>
                <a:spcPts val="0"/>
              </a:spcBef>
              <a:spcAft>
                <a:spcPts val="0"/>
              </a:spcAft>
              <a:buSzPct val="133000"/>
              <a:buChar char="•"/>
            </a:pPr>
            <a:r>
              <a:rPr lang="en-US" sz="2400"/>
              <a:t>From Google Drive we are uploading the yolov7 model and the dataset.</a:t>
            </a:r>
          </a:p>
          <a:p>
            <a:pPr marL="342900" lvl="0" indent="-327660" algn="l" rtl="0">
              <a:lnSpc>
                <a:spcPct val="100000"/>
              </a:lnSpc>
              <a:spcBef>
                <a:spcPts val="0"/>
              </a:spcBef>
              <a:spcAft>
                <a:spcPts val="0"/>
              </a:spcAft>
              <a:buSzPct val="133000"/>
              <a:buChar char="•"/>
            </a:pPr>
            <a:r>
              <a:rPr lang="en-US" sz="2400"/>
              <a:t>We train the model using YOLOv7.</a:t>
            </a:r>
          </a:p>
          <a:p>
            <a:pPr marL="342900" lvl="0" indent="-327660" algn="l" rtl="0">
              <a:lnSpc>
                <a:spcPct val="100000"/>
              </a:lnSpc>
              <a:spcBef>
                <a:spcPts val="0"/>
              </a:spcBef>
              <a:spcAft>
                <a:spcPts val="0"/>
              </a:spcAft>
              <a:buSzPct val="133000"/>
              <a:buChar char="•"/>
            </a:pPr>
            <a:r>
              <a:rPr lang="en-US" sz="2400"/>
              <a:t>The YOLOv7 model detects the obstacle or the object present in image.</a:t>
            </a:r>
          </a:p>
          <a:p>
            <a:pPr marL="342900" lvl="0" indent="-327660" algn="l" rtl="0">
              <a:lnSpc>
                <a:spcPct val="100000"/>
              </a:lnSpc>
              <a:spcBef>
                <a:spcPts val="0"/>
              </a:spcBef>
              <a:spcAft>
                <a:spcPts val="0"/>
              </a:spcAft>
              <a:buSzPct val="133000"/>
              <a:buChar char="•"/>
            </a:pPr>
            <a:r>
              <a:rPr lang="en-US" sz="2400"/>
              <a:t>The obstacle is categorized into one of the various classes which are labelled in the dataset.</a:t>
            </a:r>
          </a:p>
          <a:p>
            <a:pPr marL="342900" lvl="0" indent="-327660" algn="l" rtl="0">
              <a:lnSpc>
                <a:spcPct val="100000"/>
              </a:lnSpc>
              <a:spcBef>
                <a:spcPts val="0"/>
              </a:spcBef>
              <a:spcAft>
                <a:spcPts val="0"/>
              </a:spcAft>
              <a:buSzPct val="133000"/>
              <a:buChar char="•"/>
            </a:pPr>
            <a:r>
              <a:rPr lang="en-US" sz="2400"/>
              <a:t>It will display the bounding box as the output along with its class name.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Important Code segments</a:t>
            </a:r>
          </a:p>
        </p:txBody>
      </p:sp>
      <p:sp>
        <p:nvSpPr>
          <p:cNvPr id="222" name="Google Shape;222;p34"/>
          <p:cNvSpPr txBox="1">
            <a:spLocks noGrp="1"/>
          </p:cNvSpPr>
          <p:nvPr>
            <p:ph type="body" idx="4294967295"/>
          </p:nvPr>
        </p:nvSpPr>
        <p:spPr>
          <a:xfrm>
            <a:off x="228600" y="990600"/>
            <a:ext cx="8610600" cy="5592762"/>
          </a:xfrm>
          <a:prstGeom prst="rect">
            <a:avLst/>
          </a:prstGeom>
          <a:noFill/>
          <a:ln>
            <a:noFill/>
          </a:ln>
        </p:spPr>
        <p:txBody>
          <a:bodyPr spcFirstLastPara="1" wrap="square" lIns="91425" tIns="45700" rIns="91425" bIns="45700" anchor="t" anchorCtr="0">
            <a:normAutofit fontScale="25000" lnSpcReduction="20000"/>
          </a:bodyPr>
          <a:lstStyle/>
          <a:p>
            <a:pPr marL="342900" lvl="0" indent="-266700" algn="just" rtl="0">
              <a:lnSpc>
                <a:spcPct val="100000"/>
              </a:lnSpc>
              <a:spcBef>
                <a:spcPts val="0"/>
              </a:spcBef>
              <a:spcAft>
                <a:spcPts val="0"/>
              </a:spcAft>
              <a:buSzPct val="237000"/>
              <a:buFont typeface="Times New Roman" panose="02020603050405020304"/>
              <a:buChar char="•"/>
            </a:pPr>
            <a:r>
              <a:rPr lang="en-US" b="1" dirty="0">
                <a:latin typeface="Times New Roman" panose="02020603050405020304"/>
                <a:ea typeface="Times New Roman" panose="02020603050405020304"/>
                <a:cs typeface="Times New Roman" panose="02020603050405020304"/>
                <a:sym typeface="Times New Roman" panose="02020603050405020304"/>
              </a:rPr>
              <a:t>INPUT DATASET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100000"/>
              </a:lnSpc>
              <a:spcBef>
                <a:spcPts val="300"/>
              </a:spcBef>
              <a:spcAft>
                <a:spcPts val="0"/>
              </a:spcAft>
              <a:buSzPct val="213000"/>
              <a:buNone/>
            </a:pPr>
            <a:endParaRPr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streamlit</a:t>
            </a:r>
            <a:r>
              <a:rPr lang="en-US" sz="2800" dirty="0">
                <a:latin typeface="Times New Roman" panose="02020603050405020304"/>
                <a:ea typeface="Times New Roman" panose="02020603050405020304"/>
                <a:cs typeface="Times New Roman" panose="02020603050405020304"/>
                <a:sym typeface="Times New Roman" panose="02020603050405020304"/>
              </a:rPr>
              <a:t> as </a:t>
            </a:r>
            <a:r>
              <a:rPr lang="en-US" sz="2800" dirty="0" err="1">
                <a:latin typeface="Times New Roman" panose="02020603050405020304"/>
                <a:ea typeface="Times New Roman" panose="02020603050405020304"/>
                <a:cs typeface="Times New Roman" panose="02020603050405020304"/>
                <a:sym typeface="Times New Roman" panose="02020603050405020304"/>
              </a:rPr>
              <a:t>st</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PyPDF2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PdfReader</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langchain_text_splitters</a:t>
            </a:r>
            <a:r>
              <a:rPr lang="en-US" sz="2800" dirty="0">
                <a:latin typeface="Times New Roman" panose="02020603050405020304"/>
                <a:ea typeface="Times New Roman" panose="02020603050405020304"/>
                <a:cs typeface="Times New Roman" panose="02020603050405020304"/>
                <a:sym typeface="Times New Roman" panose="02020603050405020304"/>
              </a:rPr>
              <a:t>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RecursiveCharacterTextSplitter</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langchain_community.embeddings</a:t>
            </a:r>
            <a:r>
              <a:rPr lang="en-US" sz="2800" dirty="0">
                <a:latin typeface="Times New Roman" panose="02020603050405020304"/>
                <a:ea typeface="Times New Roman" panose="02020603050405020304"/>
                <a:cs typeface="Times New Roman" panose="02020603050405020304"/>
                <a:sym typeface="Times New Roman" panose="02020603050405020304"/>
              </a:rPr>
              <a:t>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HuggingFaceEmbeddings</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langchain_community.vectorstores.faiss</a:t>
            </a:r>
            <a:r>
              <a:rPr lang="en-US" sz="2800" dirty="0">
                <a:latin typeface="Times New Roman" panose="02020603050405020304"/>
                <a:ea typeface="Times New Roman" panose="02020603050405020304"/>
                <a:cs typeface="Times New Roman" panose="02020603050405020304"/>
                <a:sym typeface="Times New Roman" panose="02020603050405020304"/>
              </a:rPr>
              <a:t> import FAISS</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langchain_google_genai</a:t>
            </a:r>
            <a:r>
              <a:rPr lang="en-US" sz="2800" dirty="0">
                <a:latin typeface="Times New Roman" panose="02020603050405020304"/>
                <a:ea typeface="Times New Roman" panose="02020603050405020304"/>
                <a:cs typeface="Times New Roman" panose="02020603050405020304"/>
                <a:sym typeface="Times New Roman" panose="02020603050405020304"/>
              </a:rPr>
              <a:t>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ChatGoogleGenerativeAI</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langchain_core.prompts</a:t>
            </a:r>
            <a:r>
              <a:rPr lang="en-US" sz="2800" dirty="0">
                <a:latin typeface="Times New Roman" panose="02020603050405020304"/>
                <a:ea typeface="Times New Roman" panose="02020603050405020304"/>
                <a:cs typeface="Times New Roman" panose="02020603050405020304"/>
                <a:sym typeface="Times New Roman" panose="02020603050405020304"/>
              </a:rPr>
              <a:t>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PromptTemplate</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langchain_core.output_parsers</a:t>
            </a:r>
            <a:r>
              <a:rPr lang="en-US" sz="2800" dirty="0">
                <a:latin typeface="Times New Roman" panose="02020603050405020304"/>
                <a:ea typeface="Times New Roman" panose="02020603050405020304"/>
                <a:cs typeface="Times New Roman" panose="02020603050405020304"/>
                <a:sym typeface="Times New Roman" panose="02020603050405020304"/>
              </a:rPr>
              <a:t>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StrOutputParser</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os</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from </a:t>
            </a:r>
            <a:r>
              <a:rPr lang="en-US" sz="2800" dirty="0" err="1">
                <a:latin typeface="Times New Roman" panose="02020603050405020304"/>
                <a:ea typeface="Times New Roman" panose="02020603050405020304"/>
                <a:cs typeface="Times New Roman" panose="02020603050405020304"/>
                <a:sym typeface="Times New Roman" panose="02020603050405020304"/>
              </a:rPr>
              <a:t>dotenv</a:t>
            </a:r>
            <a:r>
              <a:rPr lang="en-US" sz="2800" dirty="0">
                <a:latin typeface="Times New Roman" panose="02020603050405020304"/>
                <a:ea typeface="Times New Roman" panose="02020603050405020304"/>
                <a:cs typeface="Times New Roman" panose="02020603050405020304"/>
                <a:sym typeface="Times New Roman" panose="02020603050405020304"/>
              </a:rPr>
              <a:t> import </a:t>
            </a:r>
            <a:r>
              <a:rPr lang="en-US" sz="2800" dirty="0" err="1">
                <a:latin typeface="Times New Roman" panose="02020603050405020304"/>
                <a:ea typeface="Times New Roman" panose="02020603050405020304"/>
                <a:cs typeface="Times New Roman" panose="02020603050405020304"/>
                <a:sym typeface="Times New Roman" panose="02020603050405020304"/>
              </a:rPr>
              <a:t>load_dotenv</a:t>
            </a: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ENV SETUP</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800" dirty="0" err="1">
                <a:latin typeface="Times New Roman" panose="02020603050405020304"/>
                <a:ea typeface="Times New Roman" panose="02020603050405020304"/>
                <a:cs typeface="Times New Roman" panose="02020603050405020304"/>
                <a:sym typeface="Times New Roman" panose="02020603050405020304"/>
              </a:rPr>
              <a:t>load_dotenv</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err="1">
                <a:latin typeface="Times New Roman" panose="02020603050405020304"/>
                <a:ea typeface="Times New Roman" panose="02020603050405020304"/>
                <a:cs typeface="Times New Roman" panose="02020603050405020304"/>
                <a:sym typeface="Times New Roman" panose="02020603050405020304"/>
              </a:rPr>
              <a:t>st.set_page_config</a:t>
            </a:r>
            <a:r>
              <a:rPr lang="en-US" sz="2800" dirty="0">
                <a:latin typeface="Times New Roman" panose="02020603050405020304"/>
                <a:ea typeface="Times New Roman" panose="02020603050405020304"/>
                <a:cs typeface="Times New Roman" panose="02020603050405020304"/>
                <a:sym typeface="Times New Roman" panose="02020603050405020304"/>
              </a:rPr>
              <a:t>(</a:t>
            </a:r>
            <a:r>
              <a:rPr lang="en-US" sz="2800" dirty="0" err="1">
                <a:latin typeface="Times New Roman" panose="02020603050405020304"/>
                <a:ea typeface="Times New Roman" panose="02020603050405020304"/>
                <a:cs typeface="Times New Roman" panose="02020603050405020304"/>
                <a:sym typeface="Times New Roman" panose="02020603050405020304"/>
              </a:rPr>
              <a:t>page_title</a:t>
            </a:r>
            <a:r>
              <a:rPr lang="en-US" sz="2800" dirty="0">
                <a:latin typeface="Times New Roman" panose="02020603050405020304"/>
                <a:ea typeface="Times New Roman" panose="02020603050405020304"/>
                <a:cs typeface="Times New Roman" panose="02020603050405020304"/>
                <a:sym typeface="Times New Roman" panose="02020603050405020304"/>
              </a:rPr>
              <a:t>="Document Genie", layout="wide")</a:t>
            </a:r>
          </a:p>
          <a:p>
            <a:pPr marL="342900" lvl="0" indent="-342900" algn="just">
              <a:spcBef>
                <a:spcPts val="300"/>
              </a:spcBef>
              <a:buSzPct val="213000"/>
              <a:buNone/>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err="1">
                <a:latin typeface="Times New Roman" panose="02020603050405020304"/>
                <a:ea typeface="Times New Roman" panose="02020603050405020304"/>
                <a:cs typeface="Times New Roman" panose="02020603050405020304"/>
                <a:sym typeface="Times New Roman" panose="02020603050405020304"/>
              </a:rPr>
              <a:t>api_key</a:t>
            </a:r>
            <a:r>
              <a:rPr lang="en-US" sz="2800" dirty="0">
                <a:latin typeface="Times New Roman" panose="02020603050405020304"/>
                <a:ea typeface="Times New Roman" panose="02020603050405020304"/>
                <a:cs typeface="Times New Roman" panose="02020603050405020304"/>
                <a:sym typeface="Times New Roman" panose="02020603050405020304"/>
              </a:rPr>
              <a:t> = </a:t>
            </a:r>
            <a:r>
              <a:rPr lang="en-US" sz="2800" dirty="0" err="1">
                <a:latin typeface="Times New Roman" panose="02020603050405020304"/>
                <a:ea typeface="Times New Roman" panose="02020603050405020304"/>
                <a:cs typeface="Times New Roman" panose="02020603050405020304"/>
                <a:sym typeface="Times New Roman" panose="02020603050405020304"/>
              </a:rPr>
              <a:t>os.getenv</a:t>
            </a:r>
            <a:r>
              <a:rPr lang="en-US" sz="2800" dirty="0">
                <a:latin typeface="Times New Roman" panose="02020603050405020304"/>
                <a:ea typeface="Times New Roman" panose="02020603050405020304"/>
                <a:cs typeface="Times New Roman" panose="02020603050405020304"/>
                <a:sym typeface="Times New Roman" panose="02020603050405020304"/>
              </a:rPr>
              <a:t>("GOOGLE_API_KEY")</a:t>
            </a:r>
          </a:p>
          <a:p>
            <a:pPr marL="342900" lvl="0" indent="-342900" algn="just">
              <a:spcBef>
                <a:spcPts val="300"/>
              </a:spcBef>
              <a:buSzPct val="213000"/>
              <a:buNone/>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if not </a:t>
            </a:r>
            <a:r>
              <a:rPr lang="en-US" sz="2800" dirty="0" err="1">
                <a:latin typeface="Times New Roman" panose="02020603050405020304"/>
                <a:ea typeface="Times New Roman" panose="02020603050405020304"/>
                <a:cs typeface="Times New Roman" panose="02020603050405020304"/>
                <a:sym typeface="Times New Roman" panose="02020603050405020304"/>
              </a:rPr>
              <a:t>api_key</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st.error</a:t>
            </a:r>
            <a:r>
              <a:rPr lang="en-US" sz="2800" dirty="0">
                <a:latin typeface="Times New Roman" panose="02020603050405020304"/>
                <a:ea typeface="Times New Roman" panose="02020603050405020304"/>
                <a:cs typeface="Times New Roman" panose="02020603050405020304"/>
                <a:sym typeface="Times New Roman" panose="02020603050405020304"/>
              </a:rPr>
              <a:t>("Google API Key missing. Add it in .env file")</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st.stop</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GLOBAL EMBEDDINGS (IMPORTANT)</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embeddings = </a:t>
            </a:r>
            <a:r>
              <a:rPr lang="en-US" sz="2800" dirty="0" err="1">
                <a:latin typeface="Times New Roman" panose="02020603050405020304"/>
                <a:ea typeface="Times New Roman" panose="02020603050405020304"/>
                <a:cs typeface="Times New Roman" panose="02020603050405020304"/>
                <a:sym typeface="Times New Roman" panose="02020603050405020304"/>
              </a:rPr>
              <a:t>HuggingFaceEmbeddings</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model_name</a:t>
            </a:r>
            <a:r>
              <a:rPr lang="en-US" sz="2800" dirty="0">
                <a:latin typeface="Times New Roman" panose="02020603050405020304"/>
                <a:ea typeface="Times New Roman" panose="02020603050405020304"/>
                <a:cs typeface="Times New Roman" panose="02020603050405020304"/>
                <a:sym typeface="Times New Roman" panose="02020603050405020304"/>
              </a:rPr>
              <a:t>="sentence-transformers/all-MiniLM-L6-v2"</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endParaRPr lang="en-US" sz="28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PDF TEXT EXTRACTION</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def </a:t>
            </a:r>
            <a:r>
              <a:rPr lang="en-US" sz="2800" dirty="0" err="1">
                <a:latin typeface="Times New Roman" panose="02020603050405020304"/>
                <a:ea typeface="Times New Roman" panose="02020603050405020304"/>
                <a:cs typeface="Times New Roman" panose="02020603050405020304"/>
                <a:sym typeface="Times New Roman" panose="02020603050405020304"/>
              </a:rPr>
              <a:t>get_pdf_text</a:t>
            </a:r>
            <a:r>
              <a:rPr lang="en-US" sz="2800" dirty="0">
                <a:latin typeface="Times New Roman" panose="02020603050405020304"/>
                <a:ea typeface="Times New Roman" panose="02020603050405020304"/>
                <a:cs typeface="Times New Roman" panose="02020603050405020304"/>
                <a:sym typeface="Times New Roman" panose="02020603050405020304"/>
              </a:rPr>
              <a:t>(</a:t>
            </a:r>
            <a:r>
              <a:rPr lang="en-US" sz="2800" dirty="0" err="1">
                <a:latin typeface="Times New Roman" panose="02020603050405020304"/>
                <a:ea typeface="Times New Roman" panose="02020603050405020304"/>
                <a:cs typeface="Times New Roman" panose="02020603050405020304"/>
                <a:sym typeface="Times New Roman" panose="02020603050405020304"/>
              </a:rPr>
              <a:t>pdf_docs</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text =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for pdf in </a:t>
            </a:r>
            <a:r>
              <a:rPr lang="en-US" sz="2800" dirty="0" err="1">
                <a:latin typeface="Times New Roman" panose="02020603050405020304"/>
                <a:ea typeface="Times New Roman" panose="02020603050405020304"/>
                <a:cs typeface="Times New Roman" panose="02020603050405020304"/>
                <a:sym typeface="Times New Roman" panose="02020603050405020304"/>
              </a:rPr>
              <a:t>pdf_docs</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a:t>
            </a:r>
            <a:r>
              <a:rPr lang="en-US" sz="2800" dirty="0" err="1">
                <a:latin typeface="Times New Roman" panose="02020603050405020304"/>
                <a:ea typeface="Times New Roman" panose="02020603050405020304"/>
                <a:cs typeface="Times New Roman" panose="02020603050405020304"/>
                <a:sym typeface="Times New Roman" panose="02020603050405020304"/>
              </a:rPr>
              <a:t>pdf_reader</a:t>
            </a:r>
            <a:r>
              <a:rPr lang="en-US" sz="2800" dirty="0">
                <a:latin typeface="Times New Roman" panose="02020603050405020304"/>
                <a:ea typeface="Times New Roman" panose="02020603050405020304"/>
                <a:cs typeface="Times New Roman" panose="02020603050405020304"/>
                <a:sym typeface="Times New Roman" panose="02020603050405020304"/>
              </a:rPr>
              <a:t> = </a:t>
            </a:r>
            <a:r>
              <a:rPr lang="en-US" sz="2800" dirty="0" err="1">
                <a:latin typeface="Times New Roman" panose="02020603050405020304"/>
                <a:ea typeface="Times New Roman" panose="02020603050405020304"/>
                <a:cs typeface="Times New Roman" panose="02020603050405020304"/>
                <a:sym typeface="Times New Roman" panose="02020603050405020304"/>
              </a:rPr>
              <a:t>PdfReader</a:t>
            </a:r>
            <a:r>
              <a:rPr lang="en-US" sz="2800" dirty="0">
                <a:latin typeface="Times New Roman" panose="02020603050405020304"/>
                <a:ea typeface="Times New Roman" panose="02020603050405020304"/>
                <a:cs typeface="Times New Roman" panose="02020603050405020304"/>
                <a:sym typeface="Times New Roman" panose="02020603050405020304"/>
              </a:rPr>
              <a:t>(pdf)</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for page in </a:t>
            </a:r>
            <a:r>
              <a:rPr lang="en-US" sz="2800" dirty="0" err="1">
                <a:latin typeface="Times New Roman" panose="02020603050405020304"/>
                <a:ea typeface="Times New Roman" panose="02020603050405020304"/>
                <a:cs typeface="Times New Roman" panose="02020603050405020304"/>
                <a:sym typeface="Times New Roman" panose="02020603050405020304"/>
              </a:rPr>
              <a:t>pdf_reader.pages</a:t>
            </a:r>
            <a:r>
              <a:rPr lang="en-US" sz="28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text += </a:t>
            </a:r>
            <a:r>
              <a:rPr lang="en-US" sz="2800" dirty="0" err="1">
                <a:latin typeface="Times New Roman" panose="02020603050405020304"/>
                <a:ea typeface="Times New Roman" panose="02020603050405020304"/>
                <a:cs typeface="Times New Roman" panose="02020603050405020304"/>
                <a:sym typeface="Times New Roman" panose="02020603050405020304"/>
              </a:rPr>
              <a:t>page.extract_text</a:t>
            </a:r>
            <a:r>
              <a:rPr lang="en-US" sz="2800" dirty="0">
                <a:latin typeface="Times New Roman" panose="02020603050405020304"/>
                <a:ea typeface="Times New Roman" panose="02020603050405020304"/>
                <a:cs typeface="Times New Roman" panose="02020603050405020304"/>
                <a:sym typeface="Times New Roman" panose="02020603050405020304"/>
              </a:rPr>
              <a:t>() or ""</a:t>
            </a:r>
          </a:p>
          <a:p>
            <a:pPr marL="342900" lvl="0" indent="-342900" algn="just">
              <a:spcBef>
                <a:spcPts val="300"/>
              </a:spcBef>
              <a:buSzPct val="213000"/>
              <a:buNone/>
            </a:pPr>
            <a:r>
              <a:rPr lang="en-US" sz="2800" dirty="0">
                <a:latin typeface="Times New Roman" panose="02020603050405020304"/>
                <a:ea typeface="Times New Roman" panose="02020603050405020304"/>
                <a:cs typeface="Times New Roman" panose="02020603050405020304"/>
                <a:sym typeface="Times New Roman" panose="02020603050405020304"/>
              </a:rPr>
              <a:t>    return text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Important Code segments</a:t>
            </a:r>
          </a:p>
        </p:txBody>
      </p:sp>
      <p:sp>
        <p:nvSpPr>
          <p:cNvPr id="228" name="Google Shape;228;p35"/>
          <p:cNvSpPr txBox="1">
            <a:spLocks noGrp="1"/>
          </p:cNvSpPr>
          <p:nvPr>
            <p:ph type="body" idx="4294967295"/>
          </p:nvPr>
        </p:nvSpPr>
        <p:spPr>
          <a:xfrm>
            <a:off x="228600" y="990600"/>
            <a:ext cx="8610600" cy="575433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SPLIT TEXT</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def </a:t>
            </a:r>
            <a:r>
              <a:rPr lang="en-US" sz="2400" dirty="0" err="1">
                <a:latin typeface="Times New Roman" panose="02020603050405020304"/>
                <a:ea typeface="Times New Roman" panose="02020603050405020304"/>
                <a:cs typeface="Times New Roman" panose="02020603050405020304"/>
                <a:sym typeface="Times New Roman" panose="02020603050405020304"/>
              </a:rPr>
              <a:t>get_text_chunks</a:t>
            </a:r>
            <a:r>
              <a:rPr lang="en-US" sz="2400" dirty="0">
                <a:latin typeface="Times New Roman" panose="02020603050405020304"/>
                <a:ea typeface="Times New Roman" panose="02020603050405020304"/>
                <a:cs typeface="Times New Roman" panose="02020603050405020304"/>
                <a:sym typeface="Times New Roman" panose="02020603050405020304"/>
              </a:rPr>
              <a:t>(text):</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splitter = </a:t>
            </a:r>
            <a:r>
              <a:rPr lang="en-US" sz="2400" dirty="0" err="1">
                <a:latin typeface="Times New Roman" panose="02020603050405020304"/>
                <a:ea typeface="Times New Roman" panose="02020603050405020304"/>
                <a:cs typeface="Times New Roman" panose="02020603050405020304"/>
                <a:sym typeface="Times New Roman" panose="02020603050405020304"/>
              </a:rPr>
              <a:t>RecursiveCharacterTextSplitter</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chunk_size</a:t>
            </a:r>
            <a:r>
              <a:rPr lang="en-US" sz="2400" dirty="0">
                <a:latin typeface="Times New Roman" panose="02020603050405020304"/>
                <a:ea typeface="Times New Roman" panose="02020603050405020304"/>
                <a:cs typeface="Times New Roman" panose="02020603050405020304"/>
                <a:sym typeface="Times New Roman" panose="02020603050405020304"/>
              </a:rPr>
              <a:t>=10000,</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chunk_overlap</a:t>
            </a:r>
            <a:r>
              <a:rPr lang="en-US" sz="2400" dirty="0">
                <a:latin typeface="Times New Roman" panose="02020603050405020304"/>
                <a:ea typeface="Times New Roman" panose="02020603050405020304"/>
                <a:cs typeface="Times New Roman" panose="02020603050405020304"/>
                <a:sym typeface="Times New Roman" panose="02020603050405020304"/>
              </a:rPr>
              <a:t>=1000</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return </a:t>
            </a:r>
            <a:r>
              <a:rPr lang="en-US" sz="2400" dirty="0" err="1">
                <a:latin typeface="Times New Roman" panose="02020603050405020304"/>
                <a:ea typeface="Times New Roman" panose="02020603050405020304"/>
                <a:cs typeface="Times New Roman" panose="02020603050405020304"/>
                <a:sym typeface="Times New Roman" panose="02020603050405020304"/>
              </a:rPr>
              <a:t>splitter.split_text</a:t>
            </a:r>
            <a:r>
              <a:rPr lang="en-US" sz="2400" dirty="0">
                <a:latin typeface="Times New Roman" panose="02020603050405020304"/>
                <a:ea typeface="Times New Roman" panose="02020603050405020304"/>
                <a:cs typeface="Times New Roman" panose="02020603050405020304"/>
                <a:sym typeface="Times New Roman" panose="02020603050405020304"/>
              </a:rPr>
              <a:t>(text)</a:t>
            </a:r>
          </a:p>
          <a:p>
            <a:pPr marL="342900" lvl="0" indent="-342900" algn="just">
              <a:spcBef>
                <a:spcPts val="300"/>
              </a:spcBef>
              <a:buSzPct val="157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VECTOR STORE (FAISS)</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def </a:t>
            </a:r>
            <a:r>
              <a:rPr lang="en-US" sz="2400" dirty="0" err="1">
                <a:latin typeface="Times New Roman" panose="02020603050405020304"/>
                <a:ea typeface="Times New Roman" panose="02020603050405020304"/>
                <a:cs typeface="Times New Roman" panose="02020603050405020304"/>
                <a:sym typeface="Times New Roman" panose="02020603050405020304"/>
              </a:rPr>
              <a:t>get_vector_store</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text_chunks</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vector_store</a:t>
            </a:r>
            <a:r>
              <a:rPr lang="en-US" sz="2400" dirty="0">
                <a:latin typeface="Times New Roman" panose="02020603050405020304"/>
                <a:ea typeface="Times New Roman" panose="02020603050405020304"/>
                <a:cs typeface="Times New Roman" panose="02020603050405020304"/>
                <a:sym typeface="Times New Roman" panose="02020603050405020304"/>
              </a:rPr>
              <a:t> = </a:t>
            </a:r>
            <a:r>
              <a:rPr lang="en-US" sz="2400" dirty="0" err="1">
                <a:latin typeface="Times New Roman" panose="02020603050405020304"/>
                <a:ea typeface="Times New Roman" panose="02020603050405020304"/>
                <a:cs typeface="Times New Roman" panose="02020603050405020304"/>
                <a:sym typeface="Times New Roman" panose="02020603050405020304"/>
              </a:rPr>
              <a:t>FAISS.from_texts</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text_chunks</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embedding=embeddings</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157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vector_store.save_local</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faiss_index</a:t>
            </a:r>
            <a:r>
              <a:rPr lang="en-US" sz="2400" dirty="0">
                <a:latin typeface="Times New Roman" panose="02020603050405020304"/>
                <a:ea typeface="Times New Roman" panose="02020603050405020304"/>
                <a:cs typeface="Times New Roman" panose="02020603050405020304"/>
                <a:sym typeface="Times New Roman" panose="02020603050405020304"/>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Important Code segments</a:t>
            </a:r>
          </a:p>
        </p:txBody>
      </p:sp>
      <p:sp>
        <p:nvSpPr>
          <p:cNvPr id="234" name="Google Shape;234;p3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40000" lnSpcReduction="20000"/>
          </a:bodyPr>
          <a:lstStyle/>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QA CHAIN (GEMINI ONLY FOR CHAT)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def </a:t>
            </a:r>
            <a:r>
              <a:rPr lang="en-US" sz="2400" dirty="0" err="1">
                <a:latin typeface="Times New Roman" panose="02020603050405020304"/>
                <a:ea typeface="Times New Roman" panose="02020603050405020304"/>
                <a:cs typeface="Times New Roman" panose="02020603050405020304"/>
                <a:sym typeface="Times New Roman" panose="02020603050405020304"/>
              </a:rPr>
              <a:t>get_conversational_chain</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prompt_template</a:t>
            </a:r>
            <a:r>
              <a:rPr lang="en-US" sz="2400" dirty="0">
                <a:latin typeface="Times New Roman" panose="02020603050405020304"/>
                <a:ea typeface="Times New Roman" panose="02020603050405020304"/>
                <a:cs typeface="Times New Roman" panose="02020603050405020304"/>
                <a:sym typeface="Times New Roman" panose="02020603050405020304"/>
              </a:rPr>
              <a:t> = """</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Answer the question using ONLY the provided context.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If the answer is not found in the context, reply:</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"Answer is not available in the context."</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Context: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{context}</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Question:</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{question}</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Answer:</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model = </a:t>
            </a:r>
            <a:r>
              <a:rPr lang="en-US" sz="2400" dirty="0" err="1">
                <a:latin typeface="Times New Roman" panose="02020603050405020304"/>
                <a:ea typeface="Times New Roman" panose="02020603050405020304"/>
                <a:cs typeface="Times New Roman" panose="02020603050405020304"/>
                <a:sym typeface="Times New Roman" panose="02020603050405020304"/>
              </a:rPr>
              <a:t>ChatGoogleGenerativeAI</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model="</a:t>
            </a:r>
            <a:r>
              <a:rPr lang="en-US" sz="2400" dirty="0" err="1">
                <a:latin typeface="Times New Roman" panose="02020603050405020304"/>
                <a:ea typeface="Times New Roman" panose="02020603050405020304"/>
                <a:cs typeface="Times New Roman" panose="02020603050405020304"/>
                <a:sym typeface="Times New Roman" panose="02020603050405020304"/>
              </a:rPr>
              <a:t>gemini</a:t>
            </a:r>
            <a:r>
              <a:rPr lang="en-US" sz="2400" dirty="0">
                <a:latin typeface="Times New Roman" panose="02020603050405020304"/>
                <a:ea typeface="Times New Roman" panose="02020603050405020304"/>
                <a:cs typeface="Times New Roman" panose="02020603050405020304"/>
                <a:sym typeface="Times New Roman" panose="02020603050405020304"/>
              </a:rPr>
              <a:t>-pro",</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temperature=0.3,</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google_api_key</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api_key</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prompt = </a:t>
            </a:r>
            <a:r>
              <a:rPr lang="en-US" sz="2400" dirty="0" err="1">
                <a:latin typeface="Times New Roman" panose="02020603050405020304"/>
                <a:ea typeface="Times New Roman" panose="02020603050405020304"/>
                <a:cs typeface="Times New Roman" panose="02020603050405020304"/>
                <a:sym typeface="Times New Roman" panose="02020603050405020304"/>
              </a:rPr>
              <a:t>PromptTemplate</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template=</a:t>
            </a:r>
            <a:r>
              <a:rPr lang="en-US" sz="2400" dirty="0" err="1">
                <a:latin typeface="Times New Roman" panose="02020603050405020304"/>
                <a:ea typeface="Times New Roman" panose="02020603050405020304"/>
                <a:cs typeface="Times New Roman" panose="02020603050405020304"/>
                <a:sym typeface="Times New Roman" panose="02020603050405020304"/>
              </a:rPr>
              <a:t>prompt_template</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input_variables</a:t>
            </a:r>
            <a:r>
              <a:rPr lang="en-US" sz="2400" dirty="0">
                <a:latin typeface="Times New Roman" panose="02020603050405020304"/>
                <a:ea typeface="Times New Roman" panose="02020603050405020304"/>
                <a:cs typeface="Times New Roman" panose="02020603050405020304"/>
                <a:sym typeface="Times New Roman" panose="02020603050405020304"/>
              </a:rPr>
              <a:t>=["context", "question"]</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chain = prompt | model | </a:t>
            </a:r>
            <a:r>
              <a:rPr lang="en-US" sz="2400" dirty="0" err="1">
                <a:latin typeface="Times New Roman" panose="02020603050405020304"/>
                <a:ea typeface="Times New Roman" panose="02020603050405020304"/>
                <a:cs typeface="Times New Roman" panose="02020603050405020304"/>
                <a:sym typeface="Times New Roman" panose="02020603050405020304"/>
              </a:rPr>
              <a:t>StrOutputParser</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return chain</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2">
          <a:extLst>
            <a:ext uri="{FF2B5EF4-FFF2-40B4-BE49-F238E27FC236}">
              <a16:creationId xmlns:a16="http://schemas.microsoft.com/office/drawing/2014/main" id="{C4B51E09-E07F-4C25-0F0C-C0F144212481}"/>
            </a:ext>
          </a:extLst>
        </p:cNvPr>
        <p:cNvGrpSpPr/>
        <p:nvPr/>
      </p:nvGrpSpPr>
      <p:grpSpPr>
        <a:xfrm>
          <a:off x="0" y="0"/>
          <a:ext cx="0" cy="0"/>
          <a:chOff x="0" y="0"/>
          <a:chExt cx="0" cy="0"/>
        </a:xfrm>
      </p:grpSpPr>
      <p:sp>
        <p:nvSpPr>
          <p:cNvPr id="233" name="Google Shape;233;p36">
            <a:extLst>
              <a:ext uri="{FF2B5EF4-FFF2-40B4-BE49-F238E27FC236}">
                <a16:creationId xmlns:a16="http://schemas.microsoft.com/office/drawing/2014/main" id="{121D0765-595D-03C0-219E-57212DF57CF6}"/>
              </a:ext>
            </a:extLst>
          </p:cNvPr>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Important Code segments</a:t>
            </a:r>
          </a:p>
        </p:txBody>
      </p:sp>
      <p:sp>
        <p:nvSpPr>
          <p:cNvPr id="234" name="Google Shape;234;p36">
            <a:extLst>
              <a:ext uri="{FF2B5EF4-FFF2-40B4-BE49-F238E27FC236}">
                <a16:creationId xmlns:a16="http://schemas.microsoft.com/office/drawing/2014/main" id="{9E8E0C65-3102-A0C1-DF3D-666FE0BB9944}"/>
              </a:ext>
            </a:extLst>
          </p:cNvPr>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47500" lnSpcReduction="20000"/>
          </a:bodyPr>
          <a:lstStyle/>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USER QUESTION HANDLER</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def </a:t>
            </a:r>
            <a:r>
              <a:rPr lang="en-US" sz="2400" dirty="0" err="1">
                <a:latin typeface="Times New Roman" panose="02020603050405020304"/>
                <a:ea typeface="Times New Roman" panose="02020603050405020304"/>
                <a:cs typeface="Times New Roman" panose="02020603050405020304"/>
                <a:sym typeface="Times New Roman" panose="02020603050405020304"/>
              </a:rPr>
              <a:t>user_input</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user_question</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if not </a:t>
            </a:r>
            <a:r>
              <a:rPr lang="en-US" sz="2400" dirty="0" err="1">
                <a:latin typeface="Times New Roman" panose="02020603050405020304"/>
                <a:ea typeface="Times New Roman" panose="02020603050405020304"/>
                <a:cs typeface="Times New Roman" panose="02020603050405020304"/>
                <a:sym typeface="Times New Roman" panose="02020603050405020304"/>
              </a:rPr>
              <a:t>os.path.exists</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faiss_index</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st.warning</a:t>
            </a:r>
            <a:r>
              <a:rPr lang="en-US" sz="2400" dirty="0">
                <a:latin typeface="Times New Roman" panose="02020603050405020304"/>
                <a:ea typeface="Times New Roman" panose="02020603050405020304"/>
                <a:cs typeface="Times New Roman" panose="02020603050405020304"/>
                <a:sym typeface="Times New Roman" panose="02020603050405020304"/>
              </a:rPr>
              <a:t>("Please upload and process PDFs first.")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return</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db</a:t>
            </a:r>
            <a:r>
              <a:rPr lang="en-US" sz="2400" dirty="0">
                <a:latin typeface="Times New Roman" panose="02020603050405020304"/>
                <a:ea typeface="Times New Roman" panose="02020603050405020304"/>
                <a:cs typeface="Times New Roman" panose="02020603050405020304"/>
                <a:sym typeface="Times New Roman" panose="02020603050405020304"/>
              </a:rPr>
              <a:t> = </a:t>
            </a:r>
            <a:r>
              <a:rPr lang="en-US" sz="2400" dirty="0" err="1">
                <a:latin typeface="Times New Roman" panose="02020603050405020304"/>
                <a:ea typeface="Times New Roman" panose="02020603050405020304"/>
                <a:cs typeface="Times New Roman" panose="02020603050405020304"/>
                <a:sym typeface="Times New Roman" panose="02020603050405020304"/>
              </a:rPr>
              <a:t>FAISS.load_local</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faiss_index</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embeddings,</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allow_dangerous_deserialization</a:t>
            </a:r>
            <a:r>
              <a:rPr lang="en-US" sz="2400" dirty="0">
                <a:latin typeface="Times New Roman" panose="02020603050405020304"/>
                <a:ea typeface="Times New Roman" panose="02020603050405020304"/>
                <a:cs typeface="Times New Roman" panose="02020603050405020304"/>
                <a:sym typeface="Times New Roman" panose="02020603050405020304"/>
              </a:rPr>
              <a:t>=True</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docs = </a:t>
            </a:r>
            <a:r>
              <a:rPr lang="en-US" sz="2400" dirty="0" err="1">
                <a:latin typeface="Times New Roman" panose="02020603050405020304"/>
                <a:ea typeface="Times New Roman" panose="02020603050405020304"/>
                <a:cs typeface="Times New Roman" panose="02020603050405020304"/>
                <a:sym typeface="Times New Roman" panose="02020603050405020304"/>
              </a:rPr>
              <a:t>db.similarity_search</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user_question</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if not docs:</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st.write</a:t>
            </a:r>
            <a:r>
              <a:rPr lang="en-US" sz="2400" dirty="0">
                <a:latin typeface="Times New Roman" panose="02020603050405020304"/>
                <a:ea typeface="Times New Roman" panose="02020603050405020304"/>
                <a:cs typeface="Times New Roman" panose="02020603050405020304"/>
                <a:sym typeface="Times New Roman" panose="02020603050405020304"/>
              </a:rPr>
              <a:t>("No relevant information found.")</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return</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chain = </a:t>
            </a:r>
            <a:r>
              <a:rPr lang="en-US" sz="2400" dirty="0" err="1">
                <a:latin typeface="Times New Roman" panose="02020603050405020304"/>
                <a:ea typeface="Times New Roman" panose="02020603050405020304"/>
                <a:cs typeface="Times New Roman" panose="02020603050405020304"/>
                <a:sym typeface="Times New Roman" panose="02020603050405020304"/>
              </a:rPr>
              <a:t>get_conversational_chain</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context = "\n\</a:t>
            </a:r>
            <a:r>
              <a:rPr lang="en-US" sz="2400" dirty="0" err="1">
                <a:latin typeface="Times New Roman" panose="02020603050405020304"/>
                <a:ea typeface="Times New Roman" panose="02020603050405020304"/>
                <a:cs typeface="Times New Roman" panose="02020603050405020304"/>
                <a:sym typeface="Times New Roman" panose="02020603050405020304"/>
              </a:rPr>
              <a:t>n".join</a:t>
            </a:r>
            <a:r>
              <a:rPr lang="en-US" sz="2400" dirty="0">
                <a:latin typeface="Times New Roman" panose="02020603050405020304"/>
                <a:ea typeface="Times New Roman" panose="02020603050405020304"/>
                <a:cs typeface="Times New Roman" panose="02020603050405020304"/>
                <a:sym typeface="Times New Roman" panose="02020603050405020304"/>
              </a:rPr>
              <a:t>(</a:t>
            </a:r>
            <a:r>
              <a:rPr lang="en-US" sz="2400" dirty="0" err="1">
                <a:latin typeface="Times New Roman" panose="02020603050405020304"/>
                <a:ea typeface="Times New Roman" panose="02020603050405020304"/>
                <a:cs typeface="Times New Roman" panose="02020603050405020304"/>
                <a:sym typeface="Times New Roman" panose="02020603050405020304"/>
              </a:rPr>
              <a:t>doc.page_content</a:t>
            </a:r>
            <a:r>
              <a:rPr lang="en-US" sz="2400" dirty="0">
                <a:latin typeface="Times New Roman" panose="02020603050405020304"/>
                <a:ea typeface="Times New Roman" panose="02020603050405020304"/>
                <a:cs typeface="Times New Roman" panose="02020603050405020304"/>
                <a:sym typeface="Times New Roman" panose="02020603050405020304"/>
              </a:rPr>
              <a:t> for doc in docs)</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response = </a:t>
            </a:r>
            <a:r>
              <a:rPr lang="en-US" sz="2400" dirty="0" err="1">
                <a:latin typeface="Times New Roman" panose="02020603050405020304"/>
                <a:ea typeface="Times New Roman" panose="02020603050405020304"/>
                <a:cs typeface="Times New Roman" panose="02020603050405020304"/>
                <a:sym typeface="Times New Roman" panose="02020603050405020304"/>
              </a:rPr>
              <a:t>chain.invoke</a:t>
            </a:r>
            <a:r>
              <a:rPr lang="en-US" sz="24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"context": context,</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"question": </a:t>
            </a:r>
            <a:r>
              <a:rPr lang="en-US" sz="2400" dirty="0" err="1">
                <a:latin typeface="Times New Roman" panose="02020603050405020304"/>
                <a:ea typeface="Times New Roman" panose="02020603050405020304"/>
                <a:cs typeface="Times New Roman" panose="02020603050405020304"/>
                <a:sym typeface="Times New Roman" panose="02020603050405020304"/>
              </a:rPr>
              <a:t>user_question</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st.write</a:t>
            </a:r>
            <a:r>
              <a:rPr lang="en-US" sz="2400" dirty="0">
                <a:latin typeface="Times New Roman" panose="02020603050405020304"/>
                <a:ea typeface="Times New Roman" panose="02020603050405020304"/>
                <a:cs typeface="Times New Roman" panose="02020603050405020304"/>
                <a:sym typeface="Times New Roman" panose="02020603050405020304"/>
              </a:rPr>
              <a:t>("### 🤖 Reply")</a:t>
            </a:r>
          </a:p>
          <a:p>
            <a:pPr marL="342900" lvl="0" indent="-342900" algn="just">
              <a:spcBef>
                <a:spcPts val="300"/>
              </a:spcBef>
              <a:buSzPct val="213000"/>
              <a:buNone/>
            </a:pPr>
            <a:r>
              <a:rPr lang="en-US" sz="2400" dirty="0">
                <a:latin typeface="Times New Roman" panose="02020603050405020304"/>
                <a:ea typeface="Times New Roman" panose="02020603050405020304"/>
                <a:cs typeface="Times New Roman" panose="02020603050405020304"/>
                <a:sym typeface="Times New Roman" panose="02020603050405020304"/>
              </a:rPr>
              <a:t>    </a:t>
            </a:r>
            <a:r>
              <a:rPr lang="en-US" sz="2400" dirty="0" err="1">
                <a:latin typeface="Times New Roman" panose="02020603050405020304"/>
                <a:ea typeface="Times New Roman" panose="02020603050405020304"/>
                <a:cs typeface="Times New Roman" panose="02020603050405020304"/>
                <a:sym typeface="Times New Roman" panose="02020603050405020304"/>
              </a:rPr>
              <a:t>st.write</a:t>
            </a:r>
            <a:r>
              <a:rPr lang="en-US" sz="2400" dirty="0">
                <a:latin typeface="Times New Roman" panose="02020603050405020304"/>
                <a:ea typeface="Times New Roman" panose="02020603050405020304"/>
                <a:cs typeface="Times New Roman" panose="02020603050405020304"/>
                <a:sym typeface="Times New Roman" panose="02020603050405020304"/>
              </a:rPr>
              <a:t>(response)</a:t>
            </a:r>
          </a:p>
          <a:p>
            <a:pPr marL="342900" lvl="0" indent="-342900" algn="just">
              <a:spcBef>
                <a:spcPts val="300"/>
              </a:spcBef>
              <a:buSzPct val="213000"/>
              <a:buNone/>
            </a:pPr>
            <a:endParaRPr lang="en-US" sz="2400" dirty="0">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244607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2">
          <a:extLst>
            <a:ext uri="{FF2B5EF4-FFF2-40B4-BE49-F238E27FC236}">
              <a16:creationId xmlns:a16="http://schemas.microsoft.com/office/drawing/2014/main" id="{40068789-1D19-54B1-4AA7-C7609633DADE}"/>
            </a:ext>
          </a:extLst>
        </p:cNvPr>
        <p:cNvGrpSpPr/>
        <p:nvPr/>
      </p:nvGrpSpPr>
      <p:grpSpPr>
        <a:xfrm>
          <a:off x="0" y="0"/>
          <a:ext cx="0" cy="0"/>
          <a:chOff x="0" y="0"/>
          <a:chExt cx="0" cy="0"/>
        </a:xfrm>
      </p:grpSpPr>
      <p:sp>
        <p:nvSpPr>
          <p:cNvPr id="233" name="Google Shape;233;p36">
            <a:extLst>
              <a:ext uri="{FF2B5EF4-FFF2-40B4-BE49-F238E27FC236}">
                <a16:creationId xmlns:a16="http://schemas.microsoft.com/office/drawing/2014/main" id="{4252EB2A-4F0D-9587-7ECF-8B639688D041}"/>
              </a:ext>
            </a:extLst>
          </p:cNvPr>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Important Code segments</a:t>
            </a:r>
          </a:p>
        </p:txBody>
      </p:sp>
      <p:sp>
        <p:nvSpPr>
          <p:cNvPr id="234" name="Google Shape;234;p36">
            <a:extLst>
              <a:ext uri="{FF2B5EF4-FFF2-40B4-BE49-F238E27FC236}">
                <a16:creationId xmlns:a16="http://schemas.microsoft.com/office/drawing/2014/main" id="{B65A95A3-3A53-7F81-27B4-F2CE543AB71F}"/>
              </a:ext>
            </a:extLst>
          </p:cNvPr>
          <p:cNvSpPr txBox="1">
            <a:spLocks noGrp="1"/>
          </p:cNvSpPr>
          <p:nvPr>
            <p:ph type="body" idx="4294967295"/>
          </p:nvPr>
        </p:nvSpPr>
        <p:spPr>
          <a:xfrm>
            <a:off x="228600" y="990600"/>
            <a:ext cx="8610600" cy="5592762"/>
          </a:xfrm>
          <a:prstGeom prst="rect">
            <a:avLst/>
          </a:prstGeom>
          <a:noFill/>
          <a:ln>
            <a:noFill/>
          </a:ln>
        </p:spPr>
        <p:txBody>
          <a:bodyPr spcFirstLastPara="1" wrap="square" lIns="91425" tIns="45700" rIns="91425" bIns="45700" anchor="t" anchorCtr="0">
            <a:noAutofit/>
          </a:bodyPr>
          <a:lstStyle/>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STREAMLIT UI</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def main():</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st.header</a:t>
            </a:r>
            <a:r>
              <a:rPr lang="en-US" sz="1200" dirty="0">
                <a:latin typeface="Times New Roman" panose="02020603050405020304"/>
                <a:ea typeface="Times New Roman" panose="02020603050405020304"/>
                <a:cs typeface="Times New Roman" panose="02020603050405020304"/>
                <a:sym typeface="Times New Roman" panose="02020603050405020304"/>
              </a:rPr>
              <a:t>("🌾 Agriculture AI Chatbot")</a:t>
            </a:r>
          </a:p>
          <a:p>
            <a:pPr marL="342900" lvl="0" indent="-342900" algn="just">
              <a:spcBef>
                <a:spcPts val="300"/>
              </a:spcBef>
              <a:buSzPct val="213000"/>
              <a:buNone/>
            </a:pPr>
            <a:endParaRPr lang="en-US" sz="1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user_question</a:t>
            </a:r>
            <a:r>
              <a:rPr lang="en-US" sz="1200" dirty="0">
                <a:latin typeface="Times New Roman" panose="02020603050405020304"/>
                <a:ea typeface="Times New Roman" panose="02020603050405020304"/>
                <a:cs typeface="Times New Roman" panose="02020603050405020304"/>
                <a:sym typeface="Times New Roman" panose="02020603050405020304"/>
              </a:rPr>
              <a:t> = </a:t>
            </a:r>
            <a:r>
              <a:rPr lang="en-US" sz="1200" dirty="0" err="1">
                <a:latin typeface="Times New Roman" panose="02020603050405020304"/>
                <a:ea typeface="Times New Roman" panose="02020603050405020304"/>
                <a:cs typeface="Times New Roman" panose="02020603050405020304"/>
                <a:sym typeface="Times New Roman" panose="02020603050405020304"/>
              </a:rPr>
              <a:t>st.text_input</a:t>
            </a:r>
            <a:r>
              <a:rPr lang="en-US" sz="12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"Ask a question based on uploaded PDF files:"</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1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if </a:t>
            </a:r>
            <a:r>
              <a:rPr lang="en-US" sz="1200" dirty="0" err="1">
                <a:latin typeface="Times New Roman" panose="02020603050405020304"/>
                <a:ea typeface="Times New Roman" panose="02020603050405020304"/>
                <a:cs typeface="Times New Roman" panose="02020603050405020304"/>
                <a:sym typeface="Times New Roman" panose="02020603050405020304"/>
              </a:rPr>
              <a:t>user_question</a:t>
            </a:r>
            <a:r>
              <a:rPr lang="en-US" sz="12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user_input</a:t>
            </a:r>
            <a:r>
              <a:rPr lang="en-US" sz="1200" dirty="0">
                <a:latin typeface="Times New Roman" panose="02020603050405020304"/>
                <a:ea typeface="Times New Roman" panose="02020603050405020304"/>
                <a:cs typeface="Times New Roman" panose="02020603050405020304"/>
                <a:sym typeface="Times New Roman" panose="02020603050405020304"/>
              </a:rPr>
              <a:t>(</a:t>
            </a:r>
            <a:r>
              <a:rPr lang="en-US" sz="1200" dirty="0" err="1">
                <a:latin typeface="Times New Roman" panose="02020603050405020304"/>
                <a:ea typeface="Times New Roman" panose="02020603050405020304"/>
                <a:cs typeface="Times New Roman" panose="02020603050405020304"/>
                <a:sym typeface="Times New Roman" panose="02020603050405020304"/>
              </a:rPr>
              <a:t>user_question</a:t>
            </a:r>
            <a:r>
              <a:rPr lang="en-US" sz="12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endParaRPr lang="en-US" sz="1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with </a:t>
            </a:r>
            <a:r>
              <a:rPr lang="en-US" sz="1200" dirty="0" err="1">
                <a:latin typeface="Times New Roman" panose="02020603050405020304"/>
                <a:ea typeface="Times New Roman" panose="02020603050405020304"/>
                <a:cs typeface="Times New Roman" panose="02020603050405020304"/>
                <a:sym typeface="Times New Roman" panose="02020603050405020304"/>
              </a:rPr>
              <a:t>st.sidebar</a:t>
            </a:r>
            <a:r>
              <a:rPr lang="en-US" sz="12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st.title</a:t>
            </a:r>
            <a:r>
              <a:rPr lang="en-US" sz="1200" dirty="0">
                <a:latin typeface="Times New Roman" panose="02020603050405020304"/>
                <a:ea typeface="Times New Roman" panose="02020603050405020304"/>
                <a:cs typeface="Times New Roman" panose="02020603050405020304"/>
                <a:sym typeface="Times New Roman" panose="02020603050405020304"/>
              </a:rPr>
              <a:t>("📂 Menu")</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pdf_docs</a:t>
            </a:r>
            <a:r>
              <a:rPr lang="en-US" sz="1200" dirty="0">
                <a:latin typeface="Times New Roman" panose="02020603050405020304"/>
                <a:ea typeface="Times New Roman" panose="02020603050405020304"/>
                <a:cs typeface="Times New Roman" panose="02020603050405020304"/>
                <a:sym typeface="Times New Roman" panose="02020603050405020304"/>
              </a:rPr>
              <a:t> = </a:t>
            </a:r>
            <a:r>
              <a:rPr lang="en-US" sz="1200" dirty="0" err="1">
                <a:latin typeface="Times New Roman" panose="02020603050405020304"/>
                <a:ea typeface="Times New Roman" panose="02020603050405020304"/>
                <a:cs typeface="Times New Roman" panose="02020603050405020304"/>
                <a:sym typeface="Times New Roman" panose="02020603050405020304"/>
              </a:rPr>
              <a:t>st.file_uploader</a:t>
            </a:r>
            <a:r>
              <a:rPr lang="en-US" sz="12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"Upload PDF Files",</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accept_multiple_files</a:t>
            </a:r>
            <a:r>
              <a:rPr lang="en-US" sz="1200" dirty="0">
                <a:latin typeface="Times New Roman" panose="02020603050405020304"/>
                <a:ea typeface="Times New Roman" panose="02020603050405020304"/>
                <a:cs typeface="Times New Roman" panose="02020603050405020304"/>
                <a:sym typeface="Times New Roman" panose="02020603050405020304"/>
              </a:rPr>
              <a:t>=True</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endParaRPr lang="en-US" sz="1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if </a:t>
            </a:r>
            <a:r>
              <a:rPr lang="en-US" sz="1200" dirty="0" err="1">
                <a:latin typeface="Times New Roman" panose="02020603050405020304"/>
                <a:ea typeface="Times New Roman" panose="02020603050405020304"/>
                <a:cs typeface="Times New Roman" panose="02020603050405020304"/>
                <a:sym typeface="Times New Roman" panose="02020603050405020304"/>
              </a:rPr>
              <a:t>st.button</a:t>
            </a:r>
            <a:r>
              <a:rPr lang="en-US" sz="1200" dirty="0">
                <a:latin typeface="Times New Roman" panose="02020603050405020304"/>
                <a:ea typeface="Times New Roman" panose="02020603050405020304"/>
                <a:cs typeface="Times New Roman" panose="02020603050405020304"/>
                <a:sym typeface="Times New Roman" panose="02020603050405020304"/>
              </a:rPr>
              <a:t>("Submit &amp; Process"):</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if not </a:t>
            </a:r>
            <a:r>
              <a:rPr lang="en-US" sz="1200" dirty="0" err="1">
                <a:latin typeface="Times New Roman" panose="02020603050405020304"/>
                <a:ea typeface="Times New Roman" panose="02020603050405020304"/>
                <a:cs typeface="Times New Roman" panose="02020603050405020304"/>
                <a:sym typeface="Times New Roman" panose="02020603050405020304"/>
              </a:rPr>
              <a:t>pdf_docs</a:t>
            </a:r>
            <a:r>
              <a:rPr lang="en-US" sz="12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r>
              <a:rPr lang="en-US" sz="1200" dirty="0" err="1">
                <a:latin typeface="Times New Roman" panose="02020603050405020304"/>
                <a:ea typeface="Times New Roman" panose="02020603050405020304"/>
                <a:cs typeface="Times New Roman" panose="02020603050405020304"/>
                <a:sym typeface="Times New Roman" panose="02020603050405020304"/>
              </a:rPr>
              <a:t>st.warning</a:t>
            </a:r>
            <a:r>
              <a:rPr lang="en-US" sz="1200" dirty="0">
                <a:latin typeface="Times New Roman" panose="02020603050405020304"/>
                <a:ea typeface="Times New Roman" panose="02020603050405020304"/>
                <a:cs typeface="Times New Roman" panose="02020603050405020304"/>
                <a:sym typeface="Times New Roman" panose="02020603050405020304"/>
              </a:rPr>
              <a:t>("Please upload at least one PDF.")</a:t>
            </a: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return</a:t>
            </a:r>
          </a:p>
          <a:p>
            <a:pPr marL="342900" lvl="0" indent="-342900" algn="just">
              <a:spcBef>
                <a:spcPts val="300"/>
              </a:spcBef>
              <a:buSzPct val="213000"/>
              <a:buNone/>
            </a:pPr>
            <a:endParaRPr lang="en-US" sz="12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1200" dirty="0">
                <a:latin typeface="Times New Roman" panose="02020603050405020304"/>
                <a:ea typeface="Times New Roman" panose="02020603050405020304"/>
                <a:cs typeface="Times New Roman" panose="02020603050405020304"/>
                <a:sym typeface="Times New Roman" panose="02020603050405020304"/>
              </a:rPr>
              <a:t>            </a:t>
            </a:r>
          </a:p>
        </p:txBody>
      </p:sp>
    </p:spTree>
    <p:extLst>
      <p:ext uri="{BB962C8B-B14F-4D97-AF65-F5344CB8AC3E}">
        <p14:creationId xmlns:p14="http://schemas.microsoft.com/office/powerpoint/2010/main" val="2285284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2">
          <a:extLst>
            <a:ext uri="{FF2B5EF4-FFF2-40B4-BE49-F238E27FC236}">
              <a16:creationId xmlns:a16="http://schemas.microsoft.com/office/drawing/2014/main" id="{671C6346-15B9-D99D-EED5-4FBC431BC8D0}"/>
            </a:ext>
          </a:extLst>
        </p:cNvPr>
        <p:cNvGrpSpPr/>
        <p:nvPr/>
      </p:nvGrpSpPr>
      <p:grpSpPr>
        <a:xfrm>
          <a:off x="0" y="0"/>
          <a:ext cx="0" cy="0"/>
          <a:chOff x="0" y="0"/>
          <a:chExt cx="0" cy="0"/>
        </a:xfrm>
      </p:grpSpPr>
      <p:sp>
        <p:nvSpPr>
          <p:cNvPr id="233" name="Google Shape;233;p36">
            <a:extLst>
              <a:ext uri="{FF2B5EF4-FFF2-40B4-BE49-F238E27FC236}">
                <a16:creationId xmlns:a16="http://schemas.microsoft.com/office/drawing/2014/main" id="{1CF6EB57-2A75-1F5B-8C17-78172A87EE07}"/>
              </a:ext>
            </a:extLst>
          </p:cNvPr>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Important Code segments</a:t>
            </a:r>
          </a:p>
        </p:txBody>
      </p:sp>
      <p:sp>
        <p:nvSpPr>
          <p:cNvPr id="234" name="Google Shape;234;p36">
            <a:extLst>
              <a:ext uri="{FF2B5EF4-FFF2-40B4-BE49-F238E27FC236}">
                <a16:creationId xmlns:a16="http://schemas.microsoft.com/office/drawing/2014/main" id="{9BCF0667-34C5-B4BC-619D-8ED325414E4E}"/>
              </a:ext>
            </a:extLst>
          </p:cNvPr>
          <p:cNvSpPr txBox="1">
            <a:spLocks noGrp="1"/>
          </p:cNvSpPr>
          <p:nvPr>
            <p:ph type="body" idx="4294967295"/>
          </p:nvPr>
        </p:nvSpPr>
        <p:spPr>
          <a:xfrm>
            <a:off x="228600" y="990600"/>
            <a:ext cx="8610600" cy="5592762"/>
          </a:xfrm>
          <a:prstGeom prst="rect">
            <a:avLst/>
          </a:prstGeom>
          <a:noFill/>
          <a:ln>
            <a:noFill/>
          </a:ln>
        </p:spPr>
        <p:txBody>
          <a:bodyPr spcFirstLastPara="1" wrap="square" lIns="91425" tIns="45700" rIns="91425" bIns="45700" anchor="t" anchorCtr="0">
            <a:noAutofit/>
          </a:bodyPr>
          <a:lstStyle/>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with </a:t>
            </a:r>
            <a:r>
              <a:rPr lang="en-US" sz="2500" dirty="0" err="1">
                <a:latin typeface="Times New Roman" panose="02020603050405020304"/>
                <a:ea typeface="Times New Roman" panose="02020603050405020304"/>
                <a:cs typeface="Times New Roman" panose="02020603050405020304"/>
                <a:sym typeface="Times New Roman" panose="02020603050405020304"/>
              </a:rPr>
              <a:t>st.spinner</a:t>
            </a:r>
            <a:r>
              <a:rPr lang="en-US" sz="2500" dirty="0">
                <a:latin typeface="Times New Roman" panose="02020603050405020304"/>
                <a:ea typeface="Times New Roman" panose="02020603050405020304"/>
                <a:cs typeface="Times New Roman" panose="02020603050405020304"/>
                <a:sym typeface="Times New Roman" panose="02020603050405020304"/>
              </a:rPr>
              <a:t>("Processing PDFs..."):</a:t>
            </a: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a:t>
            </a:r>
            <a:r>
              <a:rPr lang="en-US" sz="2500" dirty="0" err="1">
                <a:latin typeface="Times New Roman" panose="02020603050405020304"/>
                <a:ea typeface="Times New Roman" panose="02020603050405020304"/>
                <a:cs typeface="Times New Roman" panose="02020603050405020304"/>
                <a:sym typeface="Times New Roman" panose="02020603050405020304"/>
              </a:rPr>
              <a:t>raw_text</a:t>
            </a:r>
            <a:r>
              <a:rPr lang="en-US" sz="2500" dirty="0">
                <a:latin typeface="Times New Roman" panose="02020603050405020304"/>
                <a:ea typeface="Times New Roman" panose="02020603050405020304"/>
                <a:cs typeface="Times New Roman" panose="02020603050405020304"/>
                <a:sym typeface="Times New Roman" panose="02020603050405020304"/>
              </a:rPr>
              <a:t> = </a:t>
            </a:r>
            <a:r>
              <a:rPr lang="en-US" sz="2500" dirty="0" err="1">
                <a:latin typeface="Times New Roman" panose="02020603050405020304"/>
                <a:ea typeface="Times New Roman" panose="02020603050405020304"/>
                <a:cs typeface="Times New Roman" panose="02020603050405020304"/>
                <a:sym typeface="Times New Roman" panose="02020603050405020304"/>
              </a:rPr>
              <a:t>get_pdf_text</a:t>
            </a:r>
            <a:r>
              <a:rPr lang="en-US" sz="2500" dirty="0">
                <a:latin typeface="Times New Roman" panose="02020603050405020304"/>
                <a:ea typeface="Times New Roman" panose="02020603050405020304"/>
                <a:cs typeface="Times New Roman" panose="02020603050405020304"/>
                <a:sym typeface="Times New Roman" panose="02020603050405020304"/>
              </a:rPr>
              <a:t>(</a:t>
            </a:r>
            <a:r>
              <a:rPr lang="en-US" sz="2500" dirty="0" err="1">
                <a:latin typeface="Times New Roman" panose="02020603050405020304"/>
                <a:ea typeface="Times New Roman" panose="02020603050405020304"/>
                <a:cs typeface="Times New Roman" panose="02020603050405020304"/>
                <a:sym typeface="Times New Roman" panose="02020603050405020304"/>
              </a:rPr>
              <a:t>pdf_docs</a:t>
            </a:r>
            <a:r>
              <a:rPr lang="en-US" sz="2500" dirty="0">
                <a:latin typeface="Times New Roman" panose="02020603050405020304"/>
                <a:ea typeface="Times New Roman" panose="02020603050405020304"/>
                <a:cs typeface="Times New Roman" panose="02020603050405020304"/>
                <a:sym typeface="Times New Roman" panose="02020603050405020304"/>
              </a:rPr>
              <a:t>) </a:t>
            </a: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if not </a:t>
            </a:r>
            <a:r>
              <a:rPr lang="en-US" sz="2500" dirty="0" err="1">
                <a:latin typeface="Times New Roman" panose="02020603050405020304"/>
                <a:ea typeface="Times New Roman" panose="02020603050405020304"/>
                <a:cs typeface="Times New Roman" panose="02020603050405020304"/>
                <a:sym typeface="Times New Roman" panose="02020603050405020304"/>
              </a:rPr>
              <a:t>raw_text.strip</a:t>
            </a:r>
            <a:r>
              <a:rPr lang="en-US" sz="25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a:t>
            </a:r>
            <a:r>
              <a:rPr lang="en-US" sz="2500" dirty="0" err="1">
                <a:latin typeface="Times New Roman" panose="02020603050405020304"/>
                <a:ea typeface="Times New Roman" panose="02020603050405020304"/>
                <a:cs typeface="Times New Roman" panose="02020603050405020304"/>
                <a:sym typeface="Times New Roman" panose="02020603050405020304"/>
              </a:rPr>
              <a:t>st.warning</a:t>
            </a:r>
            <a:r>
              <a:rPr lang="en-US" sz="2500" dirty="0">
                <a:latin typeface="Times New Roman" panose="02020603050405020304"/>
                <a:ea typeface="Times New Roman" panose="02020603050405020304"/>
                <a:cs typeface="Times New Roman" panose="02020603050405020304"/>
                <a:sym typeface="Times New Roman" panose="02020603050405020304"/>
              </a:rPr>
              <a:t>("No readable text found in PDFs.")</a:t>
            </a: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return</a:t>
            </a:r>
          </a:p>
          <a:p>
            <a:pPr marL="342900" lvl="0" indent="-342900" algn="just">
              <a:spcBef>
                <a:spcPts val="300"/>
              </a:spcBef>
              <a:buSzPct val="213000"/>
              <a:buNone/>
            </a:pPr>
            <a:endParaRPr lang="en-US" sz="25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chunks = </a:t>
            </a:r>
            <a:r>
              <a:rPr lang="en-US" sz="2500" dirty="0" err="1">
                <a:latin typeface="Times New Roman" panose="02020603050405020304"/>
                <a:ea typeface="Times New Roman" panose="02020603050405020304"/>
                <a:cs typeface="Times New Roman" panose="02020603050405020304"/>
                <a:sym typeface="Times New Roman" panose="02020603050405020304"/>
              </a:rPr>
              <a:t>get_text_chunks</a:t>
            </a:r>
            <a:r>
              <a:rPr lang="en-US" sz="2500" dirty="0">
                <a:latin typeface="Times New Roman" panose="02020603050405020304"/>
                <a:ea typeface="Times New Roman" panose="02020603050405020304"/>
                <a:cs typeface="Times New Roman" panose="02020603050405020304"/>
                <a:sym typeface="Times New Roman" panose="02020603050405020304"/>
              </a:rPr>
              <a:t>(</a:t>
            </a:r>
            <a:r>
              <a:rPr lang="en-US" sz="2500" dirty="0" err="1">
                <a:latin typeface="Times New Roman" panose="02020603050405020304"/>
                <a:ea typeface="Times New Roman" panose="02020603050405020304"/>
                <a:cs typeface="Times New Roman" panose="02020603050405020304"/>
                <a:sym typeface="Times New Roman" panose="02020603050405020304"/>
              </a:rPr>
              <a:t>raw_text</a:t>
            </a:r>
            <a:r>
              <a:rPr lang="en-US" sz="2500" dirty="0">
                <a:latin typeface="Times New Roman" panose="02020603050405020304"/>
                <a:ea typeface="Times New Roman" panose="02020603050405020304"/>
                <a:cs typeface="Times New Roman" panose="02020603050405020304"/>
                <a:sym typeface="Times New Roman" panose="02020603050405020304"/>
              </a:rPr>
              <a:t>)</a:t>
            </a: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a:t>
            </a:r>
            <a:r>
              <a:rPr lang="en-US" sz="2500" dirty="0" err="1">
                <a:latin typeface="Times New Roman" panose="02020603050405020304"/>
                <a:ea typeface="Times New Roman" panose="02020603050405020304"/>
                <a:cs typeface="Times New Roman" panose="02020603050405020304"/>
                <a:sym typeface="Times New Roman" panose="02020603050405020304"/>
              </a:rPr>
              <a:t>get_vector_store</a:t>
            </a:r>
            <a:r>
              <a:rPr lang="en-US" sz="2500" dirty="0">
                <a:latin typeface="Times New Roman" panose="02020603050405020304"/>
                <a:ea typeface="Times New Roman" panose="02020603050405020304"/>
                <a:cs typeface="Times New Roman" panose="02020603050405020304"/>
                <a:sym typeface="Times New Roman" panose="02020603050405020304"/>
              </a:rPr>
              <a:t>(chunks)</a:t>
            </a:r>
          </a:p>
          <a:p>
            <a:pPr marL="342900" lvl="0" indent="-342900" algn="just">
              <a:spcBef>
                <a:spcPts val="300"/>
              </a:spcBef>
              <a:buSzPct val="213000"/>
              <a:buNone/>
            </a:pPr>
            <a:endParaRPr lang="en-US" sz="25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a:t>
            </a:r>
            <a:r>
              <a:rPr lang="en-US" sz="2500" dirty="0" err="1">
                <a:latin typeface="Times New Roman" panose="02020603050405020304"/>
                <a:ea typeface="Times New Roman" panose="02020603050405020304"/>
                <a:cs typeface="Times New Roman" panose="02020603050405020304"/>
                <a:sym typeface="Times New Roman" panose="02020603050405020304"/>
              </a:rPr>
              <a:t>st.success</a:t>
            </a:r>
            <a:r>
              <a:rPr lang="en-US" sz="2500" dirty="0">
                <a:latin typeface="Times New Roman" panose="02020603050405020304"/>
                <a:ea typeface="Times New Roman" panose="02020603050405020304"/>
                <a:cs typeface="Times New Roman" panose="02020603050405020304"/>
                <a:sym typeface="Times New Roman" panose="02020603050405020304"/>
              </a:rPr>
              <a:t>("PDFs processed successfully!")</a:t>
            </a:r>
          </a:p>
          <a:p>
            <a:pPr marL="342900" lvl="0" indent="-342900" algn="just">
              <a:spcBef>
                <a:spcPts val="300"/>
              </a:spcBef>
              <a:buSzPct val="213000"/>
              <a:buNone/>
            </a:pPr>
            <a:endParaRPr lang="en-US" sz="25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if __name__ == "__main__":</a:t>
            </a:r>
          </a:p>
          <a:p>
            <a:pPr marL="342900" lvl="0" indent="-342900" algn="just">
              <a:spcBef>
                <a:spcPts val="300"/>
              </a:spcBef>
              <a:buSzPct val="213000"/>
              <a:buNone/>
            </a:pPr>
            <a:r>
              <a:rPr lang="en-US" sz="2500" dirty="0">
                <a:latin typeface="Times New Roman" panose="02020603050405020304"/>
                <a:ea typeface="Times New Roman" panose="02020603050405020304"/>
                <a:cs typeface="Times New Roman" panose="02020603050405020304"/>
                <a:sym typeface="Times New Roman" panose="02020603050405020304"/>
              </a:rPr>
              <a:t>    main()</a:t>
            </a:r>
          </a:p>
        </p:txBody>
      </p:sp>
    </p:spTree>
    <p:extLst>
      <p:ext uri="{BB962C8B-B14F-4D97-AF65-F5344CB8AC3E}">
        <p14:creationId xmlns:p14="http://schemas.microsoft.com/office/powerpoint/2010/main" val="3325848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7"/>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Output</a:t>
            </a:r>
          </a:p>
        </p:txBody>
      </p:sp>
      <p:sp>
        <p:nvSpPr>
          <p:cNvPr id="240" name="Google Shape;240;p37"/>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SzPts val="3200"/>
              <a:buChar char="•"/>
            </a:pPr>
            <a:r>
              <a:rPr lang="en-US" sz="2200" b="1" dirty="0">
                <a:latin typeface="Times New Roman" panose="02020603050405020304"/>
                <a:ea typeface="Times New Roman" panose="02020603050405020304"/>
                <a:cs typeface="Times New Roman" panose="02020603050405020304"/>
                <a:sym typeface="Times New Roman" panose="02020603050405020304"/>
              </a:rPr>
              <a:t>OUTPUT</a:t>
            </a:r>
            <a:r>
              <a:rPr lang="en-US" sz="2200" dirty="0">
                <a:latin typeface="Times New Roman" panose="02020603050405020304"/>
                <a:ea typeface="Times New Roman" panose="02020603050405020304"/>
                <a:cs typeface="Times New Roman" panose="02020603050405020304"/>
                <a:sym typeface="Times New Roman" panose="02020603050405020304"/>
              </a:rPr>
              <a: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405"/>
              </a:spcBef>
            </a:pPr>
            <a:r>
              <a:rPr lang="en-US" sz="1500" dirty="0"/>
              <a:t>After browsing our website, the Agriculture AI Chatbot homepage will be displayed first. This page allows users to upload PDF documents related to agriculture by using the drag-and-drop option or by browsing files from the system. Once the documents are uploaded, the user can submit and process them for analysis. The system enables users to ask questions based on the uploaded PDF files, and the chatbot provides relevant answers using artificial intelligence. This interface ensures easy interaction and efficient information retrieval for users.</a:t>
            </a:r>
          </a:p>
          <a:p>
            <a:pPr marL="0" lvl="0" indent="0" algn="just">
              <a:spcBef>
                <a:spcPts val="405"/>
              </a:spcBef>
              <a:buNone/>
            </a:pPr>
            <a:endParaRPr sz="15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6FC41CCC-FA98-7F29-040B-8E6FAFCCC277}"/>
              </a:ext>
            </a:extLst>
          </p:cNvPr>
          <p:cNvPicPr>
            <a:picLocks noChangeAspect="1"/>
          </p:cNvPicPr>
          <p:nvPr/>
        </p:nvPicPr>
        <p:blipFill>
          <a:blip r:embed="rId3"/>
          <a:stretch>
            <a:fillRect/>
          </a:stretch>
        </p:blipFill>
        <p:spPr>
          <a:xfrm>
            <a:off x="98322" y="3007543"/>
            <a:ext cx="8947355" cy="357581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Output</a:t>
            </a:r>
          </a:p>
        </p:txBody>
      </p:sp>
      <p:sp>
        <p:nvSpPr>
          <p:cNvPr id="247" name="Google Shape;247;p3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SzPts val="3200"/>
              <a:buChar char="•"/>
            </a:pPr>
            <a:r>
              <a:rPr lang="en-US" sz="2200" b="1" dirty="0">
                <a:latin typeface="Times New Roman" panose="02020603050405020304"/>
                <a:ea typeface="Times New Roman" panose="02020603050405020304"/>
                <a:cs typeface="Times New Roman" panose="02020603050405020304"/>
                <a:sym typeface="Times New Roman" panose="02020603050405020304"/>
              </a:rPr>
              <a:t>OUTPUT</a:t>
            </a:r>
            <a:r>
              <a:rPr lang="en-US" sz="2200" dirty="0">
                <a:latin typeface="Times New Roman" panose="02020603050405020304"/>
                <a:ea typeface="Times New Roman" panose="02020603050405020304"/>
                <a:cs typeface="Times New Roman" panose="02020603050405020304"/>
                <a:sym typeface="Times New Roman" panose="02020603050405020304"/>
              </a:rPr>
              <a: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0"/>
              </a:spcBef>
            </a:pPr>
            <a:r>
              <a:rPr lang="en-US" sz="1500" dirty="0">
                <a:latin typeface="Calibri" panose="020F0502020204030204" pitchFamily="34" charset="0"/>
                <a:ea typeface="Calibri" panose="020F0502020204030204" pitchFamily="34" charset="0"/>
                <a:cs typeface="Calibri" panose="020F0502020204030204" pitchFamily="34" charset="0"/>
              </a:rPr>
              <a:t>After logging in to the website, the Agriculture AI Chatbot dashboard will be displayed to the user. This page allows the user to upload agriculture-related PDF documents using the drag-and-drop option or by browsing files from the system. Once the files are uploaded, the user can submit and process the documents successfully. After processing, the user can ask questions based on the uploaded PDF files, and the chatbot will generate accurate and relevant responses using artificial intelligence, enabling efficient information retrieval.</a:t>
            </a:r>
          </a:p>
          <a:p>
            <a:pPr marL="0" lvl="0" indent="0" algn="just">
              <a:spcBef>
                <a:spcPts val="0"/>
              </a:spcBef>
              <a:buNone/>
            </a:pPr>
            <a:endParaRPr sz="1500" dirty="0">
              <a:latin typeface="Calibri" panose="020F0502020204030204" pitchFamily="34" charset="0"/>
              <a:ea typeface="Calibri" panose="020F0502020204030204" pitchFamily="34" charset="0"/>
              <a:cs typeface="Calibri" panose="020F0502020204030204" pitchFamily="34" charset="0"/>
              <a:sym typeface="Times New Roman" panose="02020603050405020304"/>
            </a:endParaRPr>
          </a:p>
          <a:p>
            <a:pPr marL="342900" lvl="0" indent="-279400" algn="just" rtl="0">
              <a:lnSpc>
                <a:spcPct val="100000"/>
              </a:lnSpc>
              <a:spcBef>
                <a:spcPts val="405"/>
              </a:spcBef>
              <a:spcAft>
                <a:spcPts val="0"/>
              </a:spcAft>
              <a:buSzPts val="2200"/>
              <a:buFont typeface="Times New Roman" panose="02020603050405020304"/>
              <a:buChar char="•"/>
            </a:pPr>
            <a:endParaRPr sz="22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4EE5C5FE-9165-3597-E22F-61B2FC710434}"/>
              </a:ext>
            </a:extLst>
          </p:cNvPr>
          <p:cNvPicPr>
            <a:picLocks noChangeAspect="1"/>
          </p:cNvPicPr>
          <p:nvPr/>
        </p:nvPicPr>
        <p:blipFill>
          <a:blip r:embed="rId3"/>
          <a:stretch>
            <a:fillRect/>
          </a:stretch>
        </p:blipFill>
        <p:spPr>
          <a:xfrm>
            <a:off x="171450" y="2855388"/>
            <a:ext cx="8801100" cy="3815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Output</a:t>
            </a:r>
          </a:p>
        </p:txBody>
      </p:sp>
      <p:sp>
        <p:nvSpPr>
          <p:cNvPr id="255" name="Google Shape;255;p39"/>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SzPts val="3200"/>
              <a:buChar char="•"/>
            </a:pPr>
            <a:r>
              <a:rPr lang="en-US" sz="2200" b="1" dirty="0">
                <a:latin typeface="Times New Roman" panose="02020603050405020304"/>
                <a:ea typeface="Times New Roman" panose="02020603050405020304"/>
                <a:cs typeface="Times New Roman" panose="02020603050405020304"/>
                <a:sym typeface="Times New Roman" panose="02020603050405020304"/>
              </a:rPr>
              <a:t>OUTPUT</a:t>
            </a:r>
            <a:r>
              <a:rPr lang="en-US" sz="2200" dirty="0">
                <a:latin typeface="Times New Roman" panose="02020603050405020304"/>
                <a:ea typeface="Times New Roman" panose="02020603050405020304"/>
                <a:cs typeface="Times New Roman" panose="02020603050405020304"/>
                <a:sym typeface="Times New Roman" panose="02020603050405020304"/>
              </a:rPr>
              <a: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a:spcBef>
                <a:spcPts val="0"/>
              </a:spcBef>
            </a:pPr>
            <a:r>
              <a:rPr lang="en-US" sz="2000" dirty="0"/>
              <a:t>If the user wants to set up the required environment for the application, he/she needs to install the necessary Python libraries. The above screen shows the successful installation of the sentence-transformers package using the command prompt. This step ensures that all required dependencies are available for processing documents and generating intelligent responses in the Agriculture AI Chatbot system.</a:t>
            </a:r>
          </a:p>
          <a:p>
            <a:pPr marL="0" lvl="0" indent="0" algn="just">
              <a:spcBef>
                <a:spcPts val="0"/>
              </a:spcBef>
              <a:buNone/>
            </a:pP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526D90B8-648C-EA41-CC20-6D4E7BEDDED1}"/>
              </a:ext>
            </a:extLst>
          </p:cNvPr>
          <p:cNvPicPr>
            <a:picLocks noChangeAspect="1"/>
          </p:cNvPicPr>
          <p:nvPr/>
        </p:nvPicPr>
        <p:blipFill>
          <a:blip r:embed="rId3"/>
          <a:stretch>
            <a:fillRect/>
          </a:stretch>
        </p:blipFill>
        <p:spPr>
          <a:xfrm>
            <a:off x="0" y="3307060"/>
            <a:ext cx="9144000" cy="34294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Output</a:t>
            </a:r>
          </a:p>
        </p:txBody>
      </p:sp>
      <p:sp>
        <p:nvSpPr>
          <p:cNvPr id="263" name="Google Shape;263;p4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SzPts val="3200"/>
              <a:buChar char="•"/>
            </a:pPr>
            <a:r>
              <a:rPr lang="en-US" sz="2200" b="1">
                <a:latin typeface="Times New Roman" panose="02020603050405020304"/>
                <a:ea typeface="Times New Roman" panose="02020603050405020304"/>
                <a:cs typeface="Times New Roman" panose="02020603050405020304"/>
                <a:sym typeface="Times New Roman" panose="02020603050405020304"/>
              </a:rPr>
              <a:t>OUTPUT</a:t>
            </a:r>
            <a:r>
              <a:rPr lang="en-US" sz="2200">
                <a:latin typeface="Times New Roman" panose="02020603050405020304"/>
                <a:ea typeface="Times New Roman" panose="02020603050405020304"/>
                <a:cs typeface="Times New Roman" panose="02020603050405020304"/>
                <a:sym typeface="Times New Roman" panose="02020603050405020304"/>
              </a:rPr>
              <a:t>:</a:t>
            </a:r>
            <a:endParaRPr sz="2400">
              <a:latin typeface="Times New Roman" panose="02020603050405020304"/>
              <a:ea typeface="Times New Roman" panose="02020603050405020304"/>
              <a:cs typeface="Times New Roman" panose="02020603050405020304"/>
              <a:sym typeface="Times New Roman" panose="02020603050405020304"/>
            </a:endParaRPr>
          </a:p>
          <a:p>
            <a:pPr marL="342900" lvl="0" indent="-342900" algn="just" rtl="0">
              <a:lnSpc>
                <a:spcPct val="100000"/>
              </a:lnSpc>
              <a:spcBef>
                <a:spcPts val="405"/>
              </a:spcBef>
              <a:spcAft>
                <a:spcPts val="0"/>
              </a:spcAft>
              <a:buSzPts val="3200"/>
              <a:buChar char="•"/>
            </a:pPr>
            <a:r>
              <a:rPr lang="en-US" sz="2000">
                <a:latin typeface="Times New Roman" panose="02020603050405020304"/>
                <a:ea typeface="Times New Roman" panose="02020603050405020304"/>
                <a:cs typeface="Times New Roman" panose="02020603050405020304"/>
                <a:sym typeface="Times New Roman" panose="02020603050405020304"/>
              </a:rPr>
              <a:t>The person needs to enter following details for the registration process.</a:t>
            </a:r>
            <a:r>
              <a:rPr lang="en-US" sz="2200">
                <a:latin typeface="Times New Roman" panose="02020603050405020304"/>
                <a:ea typeface="Times New Roman" panose="02020603050405020304"/>
                <a:cs typeface="Times New Roman" panose="02020603050405020304"/>
                <a:sym typeface="Times New Roman" panose="02020603050405020304"/>
              </a:rPr>
              <a:t>  </a:t>
            </a:r>
            <a:endParaRPr sz="2200">
              <a:latin typeface="Times New Roman" panose="02020603050405020304"/>
              <a:ea typeface="Times New Roman" panose="02020603050405020304"/>
              <a:cs typeface="Times New Roman" panose="02020603050405020304"/>
              <a:sym typeface="Times New Roman" panose="02020603050405020304"/>
            </a:endParaRPr>
          </a:p>
          <a:p>
            <a:pPr marL="342900" lvl="0" indent="-279400" algn="just" rtl="0">
              <a:lnSpc>
                <a:spcPct val="100000"/>
              </a:lnSpc>
              <a:spcBef>
                <a:spcPts val="405"/>
              </a:spcBef>
              <a:spcAft>
                <a:spcPts val="0"/>
              </a:spcAft>
              <a:buSzPts val="2200"/>
              <a:buFont typeface="Times New Roman" panose="02020603050405020304"/>
              <a:buChar char="•"/>
            </a:pPr>
            <a:endParaRPr sz="2200">
              <a:latin typeface="Times New Roman" panose="02020603050405020304"/>
              <a:ea typeface="Times New Roman" panose="02020603050405020304"/>
              <a:cs typeface="Times New Roman" panose="02020603050405020304"/>
              <a:sym typeface="Times New Roman" panose="02020603050405020304"/>
            </a:endParaRPr>
          </a:p>
        </p:txBody>
      </p:sp>
      <p:pic>
        <p:nvPicPr>
          <p:cNvPr id="264" name="Google Shape;264;p40"/>
          <p:cNvPicPr preferRelativeResize="0"/>
          <p:nvPr/>
        </p:nvPicPr>
        <p:blipFill rotWithShape="1">
          <a:blip r:embed="rId3"/>
          <a:srcRect/>
          <a:stretch>
            <a:fillRect/>
          </a:stretch>
        </p:blipFill>
        <p:spPr>
          <a:xfrm>
            <a:off x="1066800" y="2438400"/>
            <a:ext cx="6400800" cy="3581399"/>
          </a:xfrm>
          <a:prstGeom prst="rect">
            <a:avLst/>
          </a:prstGeom>
          <a:noFill/>
          <a:ln>
            <a:noFill/>
          </a:ln>
        </p:spPr>
      </p:pic>
      <p:sp>
        <p:nvSpPr>
          <p:cNvPr id="265" name="Google Shape;265;p40"/>
          <p:cNvSpPr/>
          <p:nvPr/>
        </p:nvSpPr>
        <p:spPr>
          <a:xfrm>
            <a:off x="3070350" y="6164675"/>
            <a:ext cx="2393700" cy="339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Calibri" panose="020F0502020204030204"/>
                <a:ea typeface="Calibri" panose="020F0502020204030204"/>
                <a:cs typeface="Calibri" panose="020F0502020204030204"/>
                <a:sym typeface="Calibri" panose="020F0502020204030204"/>
              </a:rPr>
              <a:t>Registration Page</a:t>
            </a:r>
            <a:endParaRPr sz="1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Test Cases</a:t>
            </a:r>
          </a:p>
        </p:txBody>
      </p:sp>
      <p:sp>
        <p:nvSpPr>
          <p:cNvPr id="271" name="Google Shape;271;p41"/>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SzPts val="3200"/>
              <a:buChar char="•"/>
            </a:pPr>
            <a:r>
              <a:rPr lang="en-US" sz="2200" b="1">
                <a:latin typeface="Times New Roman" panose="02020603050405020304"/>
                <a:ea typeface="Times New Roman" panose="02020603050405020304"/>
                <a:cs typeface="Times New Roman" panose="02020603050405020304"/>
                <a:sym typeface="Times New Roman" panose="02020603050405020304"/>
              </a:rPr>
              <a:t>Test Cases</a:t>
            </a:r>
            <a:endParaRPr sz="2200">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72" name="Google Shape;272;p41"/>
          <p:cNvGraphicFramePr/>
          <p:nvPr/>
        </p:nvGraphicFramePr>
        <p:xfrm>
          <a:off x="587700" y="1446351"/>
          <a:ext cx="7734300" cy="4096850"/>
        </p:xfrm>
        <a:graphic>
          <a:graphicData uri="http://schemas.openxmlformats.org/drawingml/2006/table">
            <a:tbl>
              <a:tblPr>
                <a:noFill/>
                <a:tableStyleId>{0EECEDE0-95C2-4336-8F6F-BC490F9DDA10}</a:tableStyleId>
              </a:tblPr>
              <a:tblGrid>
                <a:gridCol w="689450">
                  <a:extLst>
                    <a:ext uri="{9D8B030D-6E8A-4147-A177-3AD203B41FA5}">
                      <a16:colId xmlns:a16="http://schemas.microsoft.com/office/drawing/2014/main" val="20000"/>
                    </a:ext>
                  </a:extLst>
                </a:gridCol>
                <a:gridCol w="2005650">
                  <a:extLst>
                    <a:ext uri="{9D8B030D-6E8A-4147-A177-3AD203B41FA5}">
                      <a16:colId xmlns:a16="http://schemas.microsoft.com/office/drawing/2014/main" val="20001"/>
                    </a:ext>
                  </a:extLst>
                </a:gridCol>
                <a:gridCol w="1554375">
                  <a:extLst>
                    <a:ext uri="{9D8B030D-6E8A-4147-A177-3AD203B41FA5}">
                      <a16:colId xmlns:a16="http://schemas.microsoft.com/office/drawing/2014/main" val="20002"/>
                    </a:ext>
                  </a:extLst>
                </a:gridCol>
                <a:gridCol w="1119475">
                  <a:extLst>
                    <a:ext uri="{9D8B030D-6E8A-4147-A177-3AD203B41FA5}">
                      <a16:colId xmlns:a16="http://schemas.microsoft.com/office/drawing/2014/main" val="20003"/>
                    </a:ext>
                  </a:extLst>
                </a:gridCol>
                <a:gridCol w="1086750">
                  <a:extLst>
                    <a:ext uri="{9D8B030D-6E8A-4147-A177-3AD203B41FA5}">
                      <a16:colId xmlns:a16="http://schemas.microsoft.com/office/drawing/2014/main" val="20004"/>
                    </a:ext>
                  </a:extLst>
                </a:gridCol>
                <a:gridCol w="1278600">
                  <a:extLst>
                    <a:ext uri="{9D8B030D-6E8A-4147-A177-3AD203B41FA5}">
                      <a16:colId xmlns:a16="http://schemas.microsoft.com/office/drawing/2014/main" val="20005"/>
                    </a:ext>
                  </a:extLst>
                </a:gridCol>
              </a:tblGrid>
              <a:tr h="429225">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S.NO</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Action</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Input</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Expected output</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Actual output</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Test Result</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75725">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1</a:t>
                      </a:r>
                      <a:endParaRPr sz="900" u="none" strike="noStrike" cap="none"/>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Test Case 1: User Registration</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Input: New user details (username, email, password).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Expected Output: User account is created successfully, and a confirmation message is displayed.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Actual Output: [To be filled after testing]</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Result: Pass/Fail</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75725">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2</a:t>
                      </a:r>
                      <a:endParaRPr sz="900" u="none" strike="noStrike" cap="none"/>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Test Case 2: User Login</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Input: Registered user’s login details (email, password).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Expected Output: User is successfully logged in and redirected to the dashboard.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Actual Output: [To be filled after testing]</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Result: Pass/Fail</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64725">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3</a:t>
                      </a:r>
                      <a:endParaRPr sz="900" u="none" strike="noStrike" cap="none"/>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Test Case 3: Image Upload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Input: X-ray image file uploaded by the user.</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Expected Output: Image is uploaded successfully, and a progress bar is displayed.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Actual Output: [To be filled after testing]</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Result: Pass/Fail</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75725">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4</a:t>
                      </a:r>
                      <a:endParaRPr sz="900" u="none" strike="noStrike" cap="none"/>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Test Case 4: Prediction Result Display</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Input: Uploaded X-ray image.</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Expected Output: Model processes the image, and the prediction result is displayed on the user’s dashboard.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Actual Output: [To be filled after testing]</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Result: Pass/Fail</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75725">
                <a:tc>
                  <a:txBody>
                    <a:bodyPr/>
                    <a:lstStyle/>
                    <a:p>
                      <a:pPr marL="0" marR="0" lvl="0" indent="0" algn="l" rtl="0">
                        <a:lnSpc>
                          <a:spcPct val="100000"/>
                        </a:lnSpc>
                        <a:spcBef>
                          <a:spcPts val="0"/>
                        </a:spcBef>
                        <a:spcAft>
                          <a:spcPts val="0"/>
                        </a:spcAft>
                        <a:buClr>
                          <a:srgbClr val="000000"/>
                        </a:buClr>
                        <a:buSzPts val="900"/>
                        <a:buFont typeface="Arial" panose="020B0604020202020204"/>
                        <a:buNone/>
                      </a:pPr>
                      <a:r>
                        <a:rPr lang="en-US" sz="900" u="none" strike="noStrike" cap="none"/>
                        <a:t>5</a:t>
                      </a:r>
                      <a:endParaRPr sz="9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Test Case 5: View Prediction History</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Input: Logged-in user navigates to the prediction history page.</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Expected Output: List of all previous predictions with dates and results is displayed.</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Actual Output: [To be filled after testing]</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panose="020B0604020202020204"/>
                        <a:buNone/>
                      </a:pPr>
                      <a:r>
                        <a:rPr lang="en-US" sz="900" u="none" strike="noStrike" cap="none"/>
                        <a:t>Result: Pass/Fail</a:t>
                      </a:r>
                      <a:endParaRPr sz="900" u="none" strike="noStrike" cap="none"/>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2"/>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Test Cases</a:t>
            </a:r>
          </a:p>
        </p:txBody>
      </p:sp>
      <p:sp>
        <p:nvSpPr>
          <p:cNvPr id="278" name="Google Shape;278;p42"/>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SzPts val="3200"/>
              <a:buChar char="•"/>
            </a:pPr>
            <a:r>
              <a:rPr lang="en-US" sz="2200" b="1">
                <a:latin typeface="Times New Roman" panose="02020603050405020304"/>
                <a:ea typeface="Times New Roman" panose="02020603050405020304"/>
                <a:cs typeface="Times New Roman" panose="02020603050405020304"/>
                <a:sym typeface="Times New Roman" panose="02020603050405020304"/>
              </a:rPr>
              <a:t>Test Cases (for ecommerce type of projects)</a:t>
            </a:r>
            <a:endParaRPr sz="2200">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79" name="Google Shape;279;p42"/>
          <p:cNvGraphicFramePr/>
          <p:nvPr/>
        </p:nvGraphicFramePr>
        <p:xfrm>
          <a:off x="647700" y="1905001"/>
          <a:ext cx="7734300" cy="4343350"/>
        </p:xfrm>
        <a:graphic>
          <a:graphicData uri="http://schemas.openxmlformats.org/drawingml/2006/table">
            <a:tbl>
              <a:tblPr>
                <a:noFill/>
                <a:tableStyleId>{0EECEDE0-95C2-4336-8F6F-BC490F9DDA10}</a:tableStyleId>
              </a:tblPr>
              <a:tblGrid>
                <a:gridCol w="689450">
                  <a:extLst>
                    <a:ext uri="{9D8B030D-6E8A-4147-A177-3AD203B41FA5}">
                      <a16:colId xmlns:a16="http://schemas.microsoft.com/office/drawing/2014/main" val="20000"/>
                    </a:ext>
                  </a:extLst>
                </a:gridCol>
                <a:gridCol w="2005650">
                  <a:extLst>
                    <a:ext uri="{9D8B030D-6E8A-4147-A177-3AD203B41FA5}">
                      <a16:colId xmlns:a16="http://schemas.microsoft.com/office/drawing/2014/main" val="20001"/>
                    </a:ext>
                  </a:extLst>
                </a:gridCol>
                <a:gridCol w="1554375">
                  <a:extLst>
                    <a:ext uri="{9D8B030D-6E8A-4147-A177-3AD203B41FA5}">
                      <a16:colId xmlns:a16="http://schemas.microsoft.com/office/drawing/2014/main" val="20002"/>
                    </a:ext>
                  </a:extLst>
                </a:gridCol>
                <a:gridCol w="1119475">
                  <a:extLst>
                    <a:ext uri="{9D8B030D-6E8A-4147-A177-3AD203B41FA5}">
                      <a16:colId xmlns:a16="http://schemas.microsoft.com/office/drawing/2014/main" val="20003"/>
                    </a:ext>
                  </a:extLst>
                </a:gridCol>
                <a:gridCol w="1086750">
                  <a:extLst>
                    <a:ext uri="{9D8B030D-6E8A-4147-A177-3AD203B41FA5}">
                      <a16:colId xmlns:a16="http://schemas.microsoft.com/office/drawing/2014/main" val="20004"/>
                    </a:ext>
                  </a:extLst>
                </a:gridCol>
                <a:gridCol w="1278600">
                  <a:extLst>
                    <a:ext uri="{9D8B030D-6E8A-4147-A177-3AD203B41FA5}">
                      <a16:colId xmlns:a16="http://schemas.microsoft.com/office/drawing/2014/main" val="20005"/>
                    </a:ext>
                  </a:extLst>
                </a:gridCol>
              </a:tblGrid>
              <a:tr h="67572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S.NO</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Action</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Input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Expected output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Actual output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Test Result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extLst>
                  <a:ext uri="{0D108BD9-81ED-4DB2-BD59-A6C34878D82A}">
                    <a16:rowId xmlns:a16="http://schemas.microsoft.com/office/drawing/2014/main" val="10000"/>
                  </a:ext>
                </a:extLst>
              </a:tr>
              <a:tr h="67572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1</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The admin uploads product into the website</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Product details</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The added product should be visible to the customer</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Calibri" panose="020F0502020204030204"/>
                        <a:buNone/>
                      </a:pPr>
                      <a:r>
                        <a:rPr lang="en-US" sz="1100" u="none" strike="noStrike" cap="none">
                          <a:latin typeface="Calibri" panose="020F0502020204030204"/>
                          <a:ea typeface="Calibri" panose="020F0502020204030204"/>
                          <a:cs typeface="Calibri" panose="020F0502020204030204"/>
                          <a:sym typeface="Calibri" panose="020F0502020204030204"/>
                        </a:rPr>
                        <a:t>The added product should be visible to the customer</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Pass</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extLst>
                  <a:ext uri="{0D108BD9-81ED-4DB2-BD59-A6C34878D82A}">
                    <a16:rowId xmlns:a16="http://schemas.microsoft.com/office/drawing/2014/main" val="10001"/>
                  </a:ext>
                </a:extLst>
              </a:tr>
              <a:tr h="67572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2</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Customer search for product</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 Product name in the search bar</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The respective product should be shown to the user</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The product will be available in the list shown to the user</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Pass</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extLst>
                  <a:ext uri="{0D108BD9-81ED-4DB2-BD59-A6C34878D82A}">
                    <a16:rowId xmlns:a16="http://schemas.microsoft.com/office/drawing/2014/main" val="10002"/>
                  </a:ext>
                </a:extLst>
              </a:tr>
              <a:tr h="96472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3</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User gives review to the product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Comment on the product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The comment will be visible in the comment section to all the users</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The given comment is not visible because the person did not register in the website</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Fail</a:t>
                      </a:r>
                      <a:endParaRPr sz="1400" u="none" strike="noStrike" cap="none"/>
                    </a:p>
                  </a:txBody>
                  <a:tcPr marL="68575" marR="68575" marT="9525" marB="0" anchor="b"/>
                </a:tc>
                <a:extLst>
                  <a:ext uri="{0D108BD9-81ED-4DB2-BD59-A6C34878D82A}">
                    <a16:rowId xmlns:a16="http://schemas.microsoft.com/office/drawing/2014/main" val="10003"/>
                  </a:ext>
                </a:extLst>
              </a:tr>
              <a:tr h="67572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4</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The user gets the overall review of the product</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This is a very good product</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Positive</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Positive</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Pass</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extLst>
                  <a:ext uri="{0D108BD9-81ED-4DB2-BD59-A6C34878D82A}">
                    <a16:rowId xmlns:a16="http://schemas.microsoft.com/office/drawing/2014/main" val="10004"/>
                  </a:ext>
                </a:extLst>
              </a:tr>
              <a:tr h="675725">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t>5</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User buys the product</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Adds the product to the cart and buys the product</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The product will be bought by the user </a:t>
                      </a:r>
                      <a:endParaRPr sz="1400" u="none" strike="noStrike" cap="none"/>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User will get the error because of not log in to the website</a:t>
                      </a:r>
                      <a:endParaRPr sz="1100" u="none" strike="noStrike" cap="none">
                        <a:latin typeface="Calibri" panose="020F0502020204030204"/>
                        <a:ea typeface="Calibri" panose="020F0502020204030204"/>
                        <a:cs typeface="Calibri" panose="020F0502020204030204"/>
                        <a:sym typeface="Calibri" panose="020F0502020204030204"/>
                      </a:endParaRPr>
                    </a:p>
                  </a:txBody>
                  <a:tcPr marL="68575" marR="68575" marT="9525" marB="0" anchor="b"/>
                </a:tc>
                <a:tc>
                  <a:txBody>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u="none" strike="noStrike" cap="none">
                          <a:latin typeface="Calibri" panose="020F0502020204030204"/>
                          <a:ea typeface="Calibri" panose="020F0502020204030204"/>
                          <a:cs typeface="Calibri" panose="020F0502020204030204"/>
                          <a:sym typeface="Calibri" panose="020F0502020204030204"/>
                        </a:rPr>
                        <a:t>Fail</a:t>
                      </a:r>
                      <a:endParaRPr sz="1400" u="none" strike="noStrike" cap="none"/>
                    </a:p>
                  </a:txBody>
                  <a:tcPr marL="68575" marR="68575" marT="9525" marB="0" anchor="b"/>
                </a:tc>
                <a:extLst>
                  <a:ext uri="{0D108BD9-81ED-4DB2-BD59-A6C34878D82A}">
                    <a16:rowId xmlns:a16="http://schemas.microsoft.com/office/drawing/2014/main" val="10005"/>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Results</a:t>
            </a:r>
          </a:p>
        </p:txBody>
      </p:sp>
      <p:sp>
        <p:nvSpPr>
          <p:cNvPr id="285" name="Google Shape;285;p4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Machine learning</a:t>
            </a:r>
          </a:p>
          <a:p>
            <a:pPr marL="742950" lvl="1" indent="-285750" algn="l" rtl="0">
              <a:lnSpc>
                <a:spcPct val="100000"/>
              </a:lnSpc>
              <a:spcBef>
                <a:spcPts val="520"/>
              </a:spcBef>
              <a:spcAft>
                <a:spcPts val="0"/>
              </a:spcAft>
              <a:buSzPts val="2800"/>
              <a:buChar char="–"/>
            </a:pPr>
            <a:r>
              <a:rPr lang="en-US"/>
              <a:t>Accuracy: 90%</a:t>
            </a:r>
          </a:p>
          <a:p>
            <a:pPr marL="742950" lvl="1" indent="-285750" algn="l" rtl="0">
              <a:lnSpc>
                <a:spcPct val="100000"/>
              </a:lnSpc>
              <a:spcBef>
                <a:spcPts val="520"/>
              </a:spcBef>
              <a:spcAft>
                <a:spcPts val="0"/>
              </a:spcAft>
              <a:buSzPts val="2800"/>
              <a:buChar char="–"/>
            </a:pPr>
            <a:r>
              <a:rPr lang="en-US"/>
              <a:t>Precision: 93%</a:t>
            </a:r>
          </a:p>
          <a:p>
            <a:pPr marL="742950" lvl="1" indent="-285750" algn="l" rtl="0">
              <a:lnSpc>
                <a:spcPct val="100000"/>
              </a:lnSpc>
              <a:spcBef>
                <a:spcPts val="520"/>
              </a:spcBef>
              <a:spcAft>
                <a:spcPts val="0"/>
              </a:spcAft>
              <a:buSzPts val="2800"/>
              <a:buChar char="–"/>
            </a:pPr>
            <a:r>
              <a:rPr lang="en-US"/>
              <a:t>Recall: 92%</a:t>
            </a:r>
          </a:p>
          <a:p>
            <a:pPr marL="742950" lvl="1" indent="-285750" algn="l" rtl="0">
              <a:lnSpc>
                <a:spcPct val="100000"/>
              </a:lnSpc>
              <a:spcBef>
                <a:spcPts val="520"/>
              </a:spcBef>
              <a:spcAft>
                <a:spcPts val="0"/>
              </a:spcAft>
              <a:buSzPts val="2800"/>
              <a:buChar char="–"/>
            </a:pPr>
            <a:r>
              <a:rPr lang="en-US"/>
              <a:t>Inferences: Effective predictions, faster diagnosis.</a:t>
            </a:r>
          </a:p>
          <a:p>
            <a:pPr marL="742950" lvl="1" indent="-299085" algn="l" rtl="0">
              <a:lnSpc>
                <a:spcPct val="100000"/>
              </a:lnSpc>
              <a:spcBef>
                <a:spcPts val="520"/>
              </a:spcBef>
              <a:spcAft>
                <a:spcPts val="0"/>
              </a:spcAft>
              <a:buSzPts val="2800"/>
              <a:buChar char="–"/>
            </a:pPr>
            <a:endParaRPr lang="en-US"/>
          </a:p>
        </p:txBody>
      </p:sp>
      <p:pic>
        <p:nvPicPr>
          <p:cNvPr id="286" name="Google Shape;286;p43"/>
          <p:cNvPicPr preferRelativeResize="0"/>
          <p:nvPr/>
        </p:nvPicPr>
        <p:blipFill rotWithShape="1">
          <a:blip r:embed="rId3"/>
          <a:srcRect/>
          <a:stretch>
            <a:fillRect/>
          </a:stretch>
        </p:blipFill>
        <p:spPr>
          <a:xfrm>
            <a:off x="1502100" y="3731238"/>
            <a:ext cx="5114925" cy="29622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4"/>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Conclusion</a:t>
            </a:r>
          </a:p>
        </p:txBody>
      </p:sp>
      <p:sp>
        <p:nvSpPr>
          <p:cNvPr id="292" name="Google Shape;292;p44"/>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279400" algn="just" rtl="0">
              <a:lnSpc>
                <a:spcPct val="100000"/>
              </a:lnSpc>
              <a:spcBef>
                <a:spcPts val="0"/>
              </a:spcBef>
              <a:spcAft>
                <a:spcPts val="0"/>
              </a:spcAft>
              <a:buSzPts val="2200"/>
              <a:buChar char="•"/>
            </a:pPr>
            <a:r>
              <a:rPr lang="en-US" sz="2800"/>
              <a:t>In this Project, our experiments indicate that early reviewer’s ratings and their received helpfulness scores are likely to influence product popularity at a later stage. </a:t>
            </a:r>
            <a:endParaRPr sz="2800"/>
          </a:p>
          <a:p>
            <a:pPr marL="342900" lvl="0" indent="-279400" algn="just" rtl="0">
              <a:lnSpc>
                <a:spcPct val="100000"/>
              </a:lnSpc>
              <a:spcBef>
                <a:spcPts val="0"/>
              </a:spcBef>
              <a:spcAft>
                <a:spcPts val="0"/>
              </a:spcAft>
              <a:buSzPts val="2200"/>
              <a:buChar char="•"/>
            </a:pPr>
            <a:r>
              <a:rPr lang="en-US" sz="2800"/>
              <a:t>So, in these we are using margin based embedding ranking model (MERM) and NLP algorithm for predicting early reviewers in E-Commerce websites. Then the user will instantly get accurate information about the product.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Future Work</a:t>
            </a:r>
          </a:p>
        </p:txBody>
      </p:sp>
      <p:sp>
        <p:nvSpPr>
          <p:cNvPr id="298" name="Google Shape;298;p4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266700" algn="just" rtl="0">
              <a:lnSpc>
                <a:spcPct val="100000"/>
              </a:lnSpc>
              <a:spcBef>
                <a:spcPts val="400"/>
              </a:spcBef>
              <a:spcAft>
                <a:spcPts val="0"/>
              </a:spcAft>
              <a:buSzPts val="2000"/>
              <a:buFont typeface="Noto Sans Symbols"/>
              <a:buChar char="•"/>
            </a:pPr>
            <a:r>
              <a:rPr lang="en-US" sz="2800"/>
              <a:t>In our current work, the review content is not considered. In the future, we will explore effective ways in incorporating review content into our early reviewer prediction model.</a:t>
            </a:r>
            <a:endParaRPr sz="2800"/>
          </a:p>
          <a:p>
            <a:pPr marL="457200" lvl="0" indent="-330200" algn="just" rtl="0">
              <a:lnSpc>
                <a:spcPct val="100000"/>
              </a:lnSpc>
              <a:spcBef>
                <a:spcPts val="400"/>
              </a:spcBef>
              <a:spcAft>
                <a:spcPts val="0"/>
              </a:spcAft>
              <a:buSzPts val="3200"/>
              <a:buNone/>
            </a:pPr>
            <a:endParaRPr sz="2800"/>
          </a:p>
          <a:p>
            <a:pPr marL="342900" lvl="0" indent="-279400" algn="just" rtl="0">
              <a:lnSpc>
                <a:spcPct val="100000"/>
              </a:lnSpc>
              <a:spcBef>
                <a:spcPts val="0"/>
              </a:spcBef>
              <a:spcAft>
                <a:spcPts val="0"/>
              </a:spcAft>
              <a:buSzPts val="2200"/>
              <a:buChar char="•"/>
            </a:pPr>
            <a:r>
              <a:rPr lang="en-US" sz="2800"/>
              <a:t>We will investigate other sources of in which social networks can be extracted and carry out more insightful analysis.  </a:t>
            </a:r>
            <a:endParaRPr sz="2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6"/>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References</a:t>
            </a:r>
          </a:p>
        </p:txBody>
      </p:sp>
      <p:sp>
        <p:nvSpPr>
          <p:cNvPr id="304" name="Google Shape;304;p4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lnSpcReduction="10000"/>
          </a:bodyPr>
          <a:lstStyle/>
          <a:p>
            <a:r>
              <a:rPr lang="en-US" b="1" dirty="0"/>
              <a:t>Website Reference:</a:t>
            </a:r>
            <a:br>
              <a:rPr lang="en-US" dirty="0"/>
            </a:br>
            <a:r>
              <a:rPr lang="en-US" dirty="0">
                <a:hlinkClick r:id="rId3"/>
              </a:rPr>
              <a:t>https://en.wikipedia.org/wiki/Object-modeling_technique</a:t>
            </a:r>
            <a:endParaRPr lang="en-US" dirty="0"/>
          </a:p>
          <a:p>
            <a:r>
              <a:rPr lang="en-US" b="1" dirty="0"/>
              <a:t>Book / Paper Reference:</a:t>
            </a:r>
            <a:br>
              <a:rPr lang="en-US" dirty="0"/>
            </a:br>
            <a:r>
              <a:rPr lang="en-US" dirty="0"/>
              <a:t>K. F. Victor and I. Z. Michael, </a:t>
            </a:r>
            <a:r>
              <a:rPr lang="en-US" i="1" dirty="0"/>
              <a:t>“Intelligent data analysis and machine learning: Are they really equivalent Concepts?”</a:t>
            </a:r>
            <a:r>
              <a:rPr lang="en-US" dirty="0"/>
              <a:t>, 2017 Second Russia and Pacific Conference on Computer Technology and Applications (RPC), 2017, pp. 59–63.</a:t>
            </a:r>
          </a:p>
          <a:p>
            <a:pPr marL="342900" lvl="0" indent="-342900" algn="l" rtl="0">
              <a:lnSpc>
                <a:spcPct val="100000"/>
              </a:lnSpc>
              <a:spcBef>
                <a:spcPts val="640"/>
              </a:spcBef>
              <a:spcAft>
                <a:spcPts val="0"/>
              </a:spcAft>
              <a:buSzPts val="3200"/>
              <a:buChar char="•"/>
            </a:pPr>
            <a:r>
              <a:rPr lang="en-US" dirty="0" err="1"/>
              <a:t>Github</a:t>
            </a:r>
            <a:r>
              <a:rPr lang="en-US" dirty="0"/>
              <a:t> link of project</a:t>
            </a:r>
          </a:p>
          <a:p>
            <a:pPr marL="342900" lvl="0" indent="-342900" algn="l" rtl="0">
              <a:lnSpc>
                <a:spcPct val="100000"/>
              </a:lnSpc>
              <a:spcBef>
                <a:spcPts val="640"/>
              </a:spcBef>
              <a:spcAft>
                <a:spcPts val="0"/>
              </a:spcAft>
              <a:buSzPts val="3200"/>
              <a:buChar char="•"/>
            </a:pPr>
            <a:r>
              <a:rPr lang="en-US" dirty="0"/>
              <a:t>Video link of project demo</a:t>
            </a:r>
          </a:p>
          <a:p>
            <a:pPr marL="342900" lvl="0" indent="-139700" algn="l" rtl="0">
              <a:lnSpc>
                <a:spcPct val="100000"/>
              </a:lnSpc>
              <a:spcBef>
                <a:spcPts val="640"/>
              </a:spcBef>
              <a:spcAft>
                <a:spcPts val="0"/>
              </a:spcAft>
              <a:buClr>
                <a:schemeClr val="dk1"/>
              </a:buClr>
              <a:buSzPts val="3200"/>
              <a:buNone/>
            </a:pPr>
            <a:endParaRPr b="1" u="sng"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Questions</a:t>
            </a:r>
          </a:p>
        </p:txBody>
      </p:sp>
      <p:pic>
        <p:nvPicPr>
          <p:cNvPr id="310" name="Google Shape;310;p47"/>
          <p:cNvPicPr preferRelativeResize="0"/>
          <p:nvPr/>
        </p:nvPicPr>
        <p:blipFill rotWithShape="1">
          <a:blip r:embed="rId3"/>
          <a:srcRect/>
          <a:stretch>
            <a:fillRect/>
          </a:stretch>
        </p:blipFill>
        <p:spPr>
          <a:xfrm>
            <a:off x="2532925" y="2292525"/>
            <a:ext cx="3753125" cy="24884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pic>
        <p:nvPicPr>
          <p:cNvPr id="315" name="Google Shape;315;p48"/>
          <p:cNvPicPr preferRelativeResize="0"/>
          <p:nvPr/>
        </p:nvPicPr>
        <p:blipFill rotWithShape="1">
          <a:blip r:embed="rId3"/>
          <a:srcRect/>
          <a:stretch>
            <a:fillRect/>
          </a:stretch>
        </p:blipFill>
        <p:spPr>
          <a:xfrm>
            <a:off x="0" y="0"/>
            <a:ext cx="9144001" cy="6858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2925</Words>
  <Application>Microsoft Office PowerPoint</Application>
  <PresentationFormat>On-screen Show (4:3)</PresentationFormat>
  <Paragraphs>409</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Courier New</vt:lpstr>
      <vt:lpstr>Noto Sans Symbols</vt:lpstr>
      <vt:lpstr>Times New Roman</vt:lpstr>
      <vt:lpstr>Office Theme</vt:lpstr>
      <vt:lpstr>PowerPoint Presentation</vt:lpstr>
      <vt:lpstr>Agenda</vt:lpstr>
      <vt:lpstr>Introduction</vt:lpstr>
      <vt:lpstr>Statement of the Problem</vt:lpstr>
      <vt:lpstr>Scope of the project</vt:lpstr>
      <vt:lpstr>Scope of the project</vt:lpstr>
      <vt:lpstr>Scope of the project</vt:lpstr>
      <vt:lpstr>Methodology</vt:lpstr>
      <vt:lpstr>Methodology</vt:lpstr>
      <vt:lpstr>Architecture Diagram/Flow</vt:lpstr>
      <vt:lpstr>Design-Use Case Diagram</vt:lpstr>
      <vt:lpstr>Design-Use Case Diagram</vt:lpstr>
      <vt:lpstr>Design-Class Diagram</vt:lpstr>
      <vt:lpstr>Sequence Diagram - ecommerce example</vt:lpstr>
      <vt:lpstr>Sequence Diagram</vt:lpstr>
      <vt:lpstr>Sequence Diagram</vt:lpstr>
      <vt:lpstr>Algorithms used</vt:lpstr>
      <vt:lpstr>Algorithms used</vt:lpstr>
      <vt:lpstr>Hardware and software selection </vt:lpstr>
      <vt:lpstr>Implementation</vt:lpstr>
      <vt:lpstr>Important Code segments</vt:lpstr>
      <vt:lpstr>Important Code segments</vt:lpstr>
      <vt:lpstr>Important Code segments</vt:lpstr>
      <vt:lpstr>Important Code segments</vt:lpstr>
      <vt:lpstr>Important Code segments</vt:lpstr>
      <vt:lpstr>Important Code segments</vt:lpstr>
      <vt:lpstr>Output</vt:lpstr>
      <vt:lpstr>Output</vt:lpstr>
      <vt:lpstr>Output</vt:lpstr>
      <vt:lpstr>Output</vt:lpstr>
      <vt:lpstr>Test Cases</vt:lpstr>
      <vt:lpstr>Test Cases</vt:lpstr>
      <vt:lpstr>Results</vt:lpstr>
      <vt:lpstr>Conclusion</vt:lpstr>
      <vt:lpstr>Future Work</vt:lpstr>
      <vt:lpstr>References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PRASANNA R</cp:lastModifiedBy>
  <cp:revision>1</cp:revision>
  <dcterms:created xsi:type="dcterms:W3CDTF">2025-12-04T08:37:41Z</dcterms:created>
  <dcterms:modified xsi:type="dcterms:W3CDTF">2025-12-17T09:11:14Z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A1B80800B45F44279A4E39E890FF12A0_12</vt:lpwstr>
  </property>
  <property fmtid="{D5CDD505-2E9C-101B-9397-08002B2CF9AE}" pid="3" name="KSOProductBuildVer">
    <vt:lpwstr>1033-12.2.0.23155</vt:lpwstr>
  </property>
</Properties>
</file>